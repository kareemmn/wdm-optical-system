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harts/chart3.xml" ContentType="application/vnd.openxmlformats-officedocument.drawingml.chart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88" r:id="rId5"/>
    <p:sldId id="289" r:id="rId6"/>
    <p:sldId id="259" r:id="rId7"/>
    <p:sldId id="260" r:id="rId8"/>
    <p:sldId id="261" r:id="rId9"/>
    <p:sldId id="262" r:id="rId10"/>
    <p:sldId id="263" r:id="rId11"/>
    <p:sldId id="291" r:id="rId12"/>
    <p:sldId id="290" r:id="rId13"/>
    <p:sldId id="264" r:id="rId14"/>
    <p:sldId id="293" r:id="rId15"/>
    <p:sldId id="292" r:id="rId16"/>
    <p:sldId id="265" r:id="rId17"/>
    <p:sldId id="294" r:id="rId18"/>
    <p:sldId id="295" r:id="rId19"/>
    <p:sldId id="266" r:id="rId20"/>
    <p:sldId id="297" r:id="rId21"/>
    <p:sldId id="296" r:id="rId22"/>
    <p:sldId id="298" r:id="rId23"/>
    <p:sldId id="267" r:id="rId24"/>
    <p:sldId id="299" r:id="rId25"/>
    <p:sldId id="268" r:id="rId26"/>
    <p:sldId id="301" r:id="rId27"/>
    <p:sldId id="300" r:id="rId28"/>
    <p:sldId id="269" r:id="rId29"/>
    <p:sldId id="303" r:id="rId30"/>
    <p:sldId id="302" r:id="rId31"/>
    <p:sldId id="304" r:id="rId32"/>
    <p:sldId id="270" r:id="rId33"/>
    <p:sldId id="305" r:id="rId34"/>
    <p:sldId id="271" r:id="rId35"/>
    <p:sldId id="272" r:id="rId36"/>
    <p:sldId id="273" r:id="rId37"/>
    <p:sldId id="274" r:id="rId38"/>
    <p:sldId id="275" r:id="rId39"/>
    <p:sldId id="276" r:id="rId40"/>
    <p:sldId id="277" r:id="rId41"/>
    <p:sldId id="278" r:id="rId42"/>
    <p:sldId id="281" r:id="rId43"/>
    <p:sldId id="282" r:id="rId44"/>
    <p:sldId id="283" r:id="rId45"/>
    <p:sldId id="284" r:id="rId46"/>
    <p:sldId id="285" r:id="rId47"/>
    <p:sldId id="286" r:id="rId4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6.3678046677988778E-2"/>
          <c:y val="5.3956845510590247E-2"/>
          <c:w val="0.91589711672070406"/>
          <c:h val="0.796701102769130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PIN Detector</c:v>
                </c:pt>
              </c:strCache>
            </c:strRef>
          </c:tx>
          <c:spPr>
            <a:solidFill>
              <a:srgbClr val="0288D1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CH1</c:v>
                </c:pt>
                <c:pt idx="1">
                  <c:v>CH2</c:v>
                </c:pt>
                <c:pt idx="2">
                  <c:v>CH3</c:v>
                </c:pt>
                <c:pt idx="3">
                  <c:v>CH4</c:v>
                </c:pt>
                <c:pt idx="4">
                  <c:v>CH5</c:v>
                </c:pt>
                <c:pt idx="5">
                  <c:v>CH6</c:v>
                </c:pt>
                <c:pt idx="6">
                  <c:v>CH7</c:v>
                </c:pt>
                <c:pt idx="7">
                  <c:v>CH8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4.7806300000000004</c:v>
                </c:pt>
                <c:pt idx="1">
                  <c:v>18.6525</c:v>
                </c:pt>
                <c:pt idx="2">
                  <c:v>4.4046399999999997</c:v>
                </c:pt>
                <c:pt idx="3">
                  <c:v>3.3090000000000002</c:v>
                </c:pt>
                <c:pt idx="4">
                  <c:v>4.9303699999999999</c:v>
                </c:pt>
                <c:pt idx="5">
                  <c:v>4.2960000000000003</c:v>
                </c:pt>
                <c:pt idx="6">
                  <c:v>6.6834199999999999</c:v>
                </c:pt>
                <c:pt idx="7">
                  <c:v>6.9633500000000002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8B-4204-B7C0-C756E1A858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APD Detector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CH1</c:v>
                </c:pt>
                <c:pt idx="1">
                  <c:v>CH2</c:v>
                </c:pt>
                <c:pt idx="2">
                  <c:v>CH3</c:v>
                </c:pt>
                <c:pt idx="3">
                  <c:v>CH4</c:v>
                </c:pt>
                <c:pt idx="4">
                  <c:v>CH5</c:v>
                </c:pt>
                <c:pt idx="5">
                  <c:v>CH6</c:v>
                </c:pt>
                <c:pt idx="6">
                  <c:v>CH7</c:v>
                </c:pt>
                <c:pt idx="7">
                  <c:v>CH8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4.7702499999999999</c:v>
                </c:pt>
                <c:pt idx="1">
                  <c:v>15.835800000000001</c:v>
                </c:pt>
                <c:pt idx="2">
                  <c:v>4.43973</c:v>
                </c:pt>
                <c:pt idx="3">
                  <c:v>3.32646</c:v>
                </c:pt>
                <c:pt idx="4">
                  <c:v>4.9497999999999998</c:v>
                </c:pt>
                <c:pt idx="5">
                  <c:v>4.2698299999999998</c:v>
                </c:pt>
                <c:pt idx="6">
                  <c:v>6.8072400000000002</c:v>
                </c:pt>
                <c:pt idx="7">
                  <c:v>7.0847600000000002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58B-4204-B7C0-C756E1A858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3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PIN Detector (log₁₀ BER)</c:v>
                </c:pt>
              </c:strCache>
            </c:strRef>
          </c:tx>
          <c:spPr>
            <a:ln w="25400" cap="flat">
              <a:solidFill>
                <a:srgbClr val="0288D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88D1"/>
              </a:solidFill>
              <a:ln w="9525" cap="flat">
                <a:solidFill>
                  <a:srgbClr val="0288D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A237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CH1</c:v>
                </c:pt>
                <c:pt idx="1">
                  <c:v>CH2</c:v>
                </c:pt>
                <c:pt idx="2">
                  <c:v>CH3</c:v>
                </c:pt>
                <c:pt idx="3">
                  <c:v>CH4</c:v>
                </c:pt>
                <c:pt idx="4">
                  <c:v>CH5</c:v>
                </c:pt>
                <c:pt idx="5">
                  <c:v>CH6</c:v>
                </c:pt>
                <c:pt idx="6">
                  <c:v>CH7</c:v>
                </c:pt>
                <c:pt idx="7">
                  <c:v>CH8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-6.0589857562944305</c:v>
                </c:pt>
                <c:pt idx="1">
                  <c:v>-77.391473966422808</c:v>
                </c:pt>
                <c:pt idx="2">
                  <c:v>-5.3851027839668655</c:v>
                </c:pt>
                <c:pt idx="3">
                  <c:v>-3.3391345219961308</c:v>
                </c:pt>
                <c:pt idx="4">
                  <c:v>-6.4282911681913122</c:v>
                </c:pt>
                <c:pt idx="5">
                  <c:v>-5.1301817920206716</c:v>
                </c:pt>
                <c:pt idx="6">
                  <c:v>-10.94692155651658</c:v>
                </c:pt>
                <c:pt idx="7">
                  <c:v>-11.804100347590767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F98-4392-8539-B4059FC1716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APD Detector (log₁₀ BER)</c:v>
                </c:pt>
              </c:strCache>
            </c:strRef>
          </c:tx>
          <c:spPr>
            <a:ln w="25400" cap="flat">
              <a:solidFill>
                <a:srgbClr val="E651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65100"/>
              </a:solidFill>
              <a:ln w="9525" cap="flat">
                <a:solidFill>
                  <a:srgbClr val="E65100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A237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CH1</c:v>
                </c:pt>
                <c:pt idx="1">
                  <c:v>CH2</c:v>
                </c:pt>
                <c:pt idx="2">
                  <c:v>CH3</c:v>
                </c:pt>
                <c:pt idx="3">
                  <c:v>CH4</c:v>
                </c:pt>
                <c:pt idx="4">
                  <c:v>CH5</c:v>
                </c:pt>
                <c:pt idx="5">
                  <c:v>CH6</c:v>
                </c:pt>
                <c:pt idx="6">
                  <c:v>CH7</c:v>
                </c:pt>
                <c:pt idx="7">
                  <c:v>CH8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-6.0371573187987577</c:v>
                </c:pt>
                <c:pt idx="1">
                  <c:v>-56.258060922270801</c:v>
                </c:pt>
                <c:pt idx="2">
                  <c:v>-5.4559319556497243</c:v>
                </c:pt>
                <c:pt idx="3">
                  <c:v>-3.3645162531850881</c:v>
                </c:pt>
                <c:pt idx="4">
                  <c:v>-6.4723700991286615</c:v>
                </c:pt>
                <c:pt idx="5">
                  <c:v>-5.07727454200674</c:v>
                </c:pt>
                <c:pt idx="6">
                  <c:v>-11.315154638355587</c:v>
                </c:pt>
                <c:pt idx="7">
                  <c:v>-12.1791420105603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F98-4392-8539-B4059FC171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3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Q-Factor vs Launch Power (CW Channels)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Q-Factor (PIN)</c:v>
                </c:pt>
              </c:strCache>
            </c:strRef>
          </c:tx>
          <c:spPr>
            <a:ln w="31750" cap="flat">
              <a:solidFill>
                <a:srgbClr val="0288D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88D1"/>
              </a:solidFill>
              <a:ln w="9525" cap="flat">
                <a:solidFill>
                  <a:srgbClr val="0288D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CH4
(10dBm)</c:v>
                </c:pt>
                <c:pt idx="1">
                  <c:v>CH8
(11dBm)</c:v>
                </c:pt>
                <c:pt idx="2">
                  <c:v>CH1
(16dBm)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3.3090000000000002</c:v>
                </c:pt>
                <c:pt idx="1">
                  <c:v>6.9633500000000002</c:v>
                </c:pt>
                <c:pt idx="2">
                  <c:v>4.7806300000000004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A39-480C-8553-5D41ED75D61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Q-Factor (APD)</c:v>
                </c:pt>
              </c:strCache>
            </c:strRef>
          </c:tx>
          <c:spPr>
            <a:ln w="31750" cap="flat">
              <a:solidFill>
                <a:srgbClr val="2E7D3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32"/>
              </a:solidFill>
              <a:ln w="9525" cap="flat">
                <a:solidFill>
                  <a:srgbClr val="2E7D32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CH4
(10dBm)</c:v>
                </c:pt>
                <c:pt idx="1">
                  <c:v>CH8
(11dBm)</c:v>
                </c:pt>
                <c:pt idx="2">
                  <c:v>CH1
(16dBm)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3.32646</c:v>
                </c:pt>
                <c:pt idx="1">
                  <c:v>7.0847600000000002</c:v>
                </c:pt>
                <c:pt idx="2">
                  <c:v>4.7702499999999999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A39-480C-8553-5D41ED75D61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3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7349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03AA5-19C0-0D66-8A67-22A8D78D0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EAD4DA-9625-123C-EF3E-367540D187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14642E-C2CF-4931-CF48-1687E15387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1D9C1B-C257-7A7C-5DCC-E15E674B34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937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92CFA-9F95-BABB-BE3E-87AEC61A4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BE16EC-0031-51CF-CA91-C34E169620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91D55A-6A2E-3754-0518-292B900A9F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AEA96-452E-3022-F823-7DDF6614C6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469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278FA-CA5A-91FD-CFCB-72A4B12DF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05556D-5486-E8C3-7675-1A25AD1A6D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850890-A981-531C-1213-3149542BD6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05EFE-B726-6FC3-E66B-E9FD689534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2170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05F0E-EC1E-477B-974D-D50A916C9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358CF2-12AE-CA61-9228-25D683BFDF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A5E8DB-2632-13A9-4133-0BCA45657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676F7-1A41-EFAD-072C-EB91271E9B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1233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E21F7-DF0E-6410-A9F7-413011DC6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1C9A2A-5481-EFB2-A8EC-7559E005C4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A8516E-1E4B-2F0A-872D-EEF9C95BAA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7220D-FBD3-7CD8-F0CC-E922A7EE0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1200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79D39-EA37-947A-7B2E-83A731A2B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8D167E-961B-0E25-F586-C87A39E964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085B05-AAE3-96B5-57DD-8241B7A748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C9B0B-6105-9DBB-2C1A-A2F3E2EFF7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0745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F72C6-E541-EF20-7276-03C269AA8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C17D66-C50B-7657-CF6D-BE8FFF231D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8F0913-97F5-6D4B-7AA3-7E78C5980C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757A9F-23C2-D3AD-1D69-3FB47E9AEB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2564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7A633-8605-025D-2DCE-68ECFA675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B12A85-706A-ED82-0093-CC47A788BB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7909AF-BE37-8E16-FB67-3E4675D2F8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8D713-23D0-46F9-7AB0-451CF22C17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212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021A9-306E-EF87-1208-D2F00ACCA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BA1843-5EB6-8592-9395-B1274672CC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CED012-D0CC-17F5-B2B4-60D0324CB0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02D7CB-A164-7C0D-2E6E-BFBC2445E5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8665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B0659-30FA-A569-1BFA-6C82B343B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7D4916-EC39-6F3A-34B3-E954CF0CC4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772875-E386-55F4-3D84-06EB83DE3E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3ECC9-9AE7-87AB-CBAE-6DE3275909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4681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3CE2A-8CFB-B566-8633-13A2DCE98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7E6E1E-8A3D-606E-CC11-EAE6E49B75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9F721C-E01A-9AE7-3DF9-E5EF8BBF2C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4F8AF7-51CA-EBF6-45E7-A5F6E7D906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650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2A62E-FEBB-252F-21B3-17800C543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84A95E-6B66-3773-7A8D-568D13A687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505A10-0B57-1596-62C5-E78DD1F41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355A0-36A8-E409-4A80-40515A2627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0400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52FC7-37A4-DAA1-F364-C728BAF0C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EC97C9-1C31-FE0C-8AE7-5C0FAF521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612B7E-53BD-F458-B051-AAE5441519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EC28F2-7837-4AAC-2887-D1311B3B84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17014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A2582-6662-27C5-7204-1F450D55B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A181BF-9984-A24A-270C-EBF4B97E62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9701E4-1744-0367-76BA-68F59F569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96E91-D760-1FFE-45CE-50937B0B5A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4585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7245E-93D2-A5D6-5310-E4B537272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25C269-D73D-E56B-BC66-05C10EA452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20D25C-D826-C526-3258-014385DC32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2EA79-C1C9-B14F-07D0-F54700A7D1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52102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03329-9F93-B7E5-D374-CCB10B3CC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42E93D-D83F-DAE3-26B8-AE60B4DC0E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AAE01D-FE03-E2AE-098C-8BD7BBEBC8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E5213-282D-8E22-F65D-0C2F47C8F5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048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5FB31-E190-C32B-DB56-B0E08B3AD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A13646-92AD-D6F7-7890-BC992D6AB9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2D770A-46EE-AD56-7661-B3DB5C9FDC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62A94A-2295-1CCF-AE51-A93302AE9E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2805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C3948-80E5-8969-B85C-F062026D5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BF6D9A-39A2-958E-759D-4CCA9E0081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497DC3-CEB3-199B-FBBF-D0AC1C9297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F92F12-64A7-A616-03AA-99E1340CA1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70621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0" y="4389120"/>
            <a:ext cx="5943600" cy="75438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4572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WDM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182880" y="141732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" y="3657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OptiSystem Simulation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0" y="5486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8-Channel WDM System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474720" y="11430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 using PIN &amp; APD Detectors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0" y="1828800"/>
            <a:ext cx="1234440" cy="86868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18745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74720" y="23317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92040" y="1828800"/>
            <a:ext cx="1234440" cy="86868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92040" y="18745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892040" y="23317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Types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309360" y="1828800"/>
            <a:ext cx="1234440" cy="86868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09360" y="18745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09360" y="23317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Types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726680" y="1828800"/>
            <a:ext cx="1234440" cy="86868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26680" y="18745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726680" y="23317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74720" y="283464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BER and Q-Factor Analysis  • Eye Diagram Evaluation  • Cross-Channel Comparison  • Detector Performance Benchmarking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AB21944-884F-2A85-3B61-563DC86176AA}"/>
              </a:ext>
            </a:extLst>
          </p:cNvPr>
          <p:cNvSpPr txBox="1"/>
          <p:nvPr/>
        </p:nvSpPr>
        <p:spPr>
          <a:xfrm>
            <a:off x="0" y="4443144"/>
            <a:ext cx="2569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Supervision: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Dr. Abdullah Ramsessi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886D95-6BB2-336A-4F1A-0BEE31145EDF}"/>
              </a:ext>
            </a:extLst>
          </p:cNvPr>
          <p:cNvSpPr txBox="1"/>
          <p:nvPr/>
        </p:nvSpPr>
        <p:spPr>
          <a:xfrm>
            <a:off x="3200400" y="4304644"/>
            <a:ext cx="5195375" cy="923330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Made by: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Yousef Taha 221174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Ahmed Saeed 221220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Kareem Nabil 221036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65760" cy="694944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365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9601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Configuration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261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WDM layout, fiber parameters, amplifier setup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719072"/>
            <a:ext cx="420624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719072"/>
            <a:ext cx="365760" cy="694944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1719072"/>
            <a:ext cx="365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17647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Configuration Summary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20665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channels: laser types, power levels, detectors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523744"/>
            <a:ext cx="420624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523744"/>
            <a:ext cx="365760" cy="694944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2523744"/>
            <a:ext cx="365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25694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 &amp; Q-Factor Results — All Channels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28712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simulation data tables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328416"/>
            <a:ext cx="420624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3328416"/>
            <a:ext cx="365760" cy="694944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3328416"/>
            <a:ext cx="365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33741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Channel Analysis (Ch 1–8)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3675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diagrams, waveforms, detailed metrics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4133088"/>
            <a:ext cx="420624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4133088"/>
            <a:ext cx="365760" cy="694944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4133088"/>
            <a:ext cx="365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" y="41788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vs APD Detector Comparison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" y="44805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Sensitivity, gain, noise analysis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914400"/>
            <a:ext cx="420624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54880" y="914400"/>
            <a:ext cx="365760" cy="694944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0" y="914400"/>
            <a:ext cx="365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66360" y="9601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Cross-Channel Performance Ranking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66360" y="1261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Best/worst channels with justification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1719072"/>
            <a:ext cx="420624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754880" y="1719072"/>
            <a:ext cx="365760" cy="694944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54880" y="1719072"/>
            <a:ext cx="365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66360" y="17647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Type Impact Analysis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66360" y="20665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 vs DML vs Single-Mode vs Empirical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2523744"/>
            <a:ext cx="420624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754880" y="2523744"/>
            <a:ext cx="365760" cy="694944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54880" y="2523744"/>
            <a:ext cx="365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66360" y="25694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Power vs BER Relationship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166360" y="28712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optical power on signal quality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54880" y="3328416"/>
            <a:ext cx="420624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754880" y="3328416"/>
            <a:ext cx="365760" cy="694944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754880" y="3328416"/>
            <a:ext cx="365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166360" y="33741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Diagram Interpretation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166360" y="3675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 clarity and distortion analysis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54880" y="4133088"/>
            <a:ext cx="420624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754880" y="4133088"/>
            <a:ext cx="365760" cy="694944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754880" y="4133088"/>
            <a:ext cx="365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166360" y="41788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Conclusions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166360" y="44805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trends, anomalies, recommendations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WDM 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OptiSystem Simulation — Full Layout Overview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1737360" cy="11887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1051560"/>
            <a:ext cx="17373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Optical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Transmitters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" y="1671523"/>
            <a:ext cx="173736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85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Types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Mach-Zehnder Mods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103120" y="1234440"/>
            <a:ext cx="1371600" cy="822960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103120" y="1280160"/>
            <a:ext cx="13716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Mux (8×1)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1695298"/>
            <a:ext cx="13716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Loss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dB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0" y="1234440"/>
            <a:ext cx="1371600" cy="822960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0" y="1280160"/>
            <a:ext cx="13716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1695298"/>
            <a:ext cx="13716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+ NZDSF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NLTF_1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212080" y="1234440"/>
            <a:ext cx="1371600" cy="82296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12080" y="1280160"/>
            <a:ext cx="13716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EDFA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12080" y="1695298"/>
            <a:ext cx="13716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15.1 dB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 = 5 dB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766560" y="1234440"/>
            <a:ext cx="1371600" cy="822960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66560" y="1280160"/>
            <a:ext cx="13716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Demux (1×8)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0" y="1695298"/>
            <a:ext cx="13716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Loss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dB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920240" y="1636776"/>
            <a:ext cx="182880" cy="0"/>
          </a:xfrm>
          <a:prstGeom prst="line">
            <a:avLst/>
          </a:prstGeom>
          <a:noFill/>
          <a:ln w="254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474720" y="1636776"/>
            <a:ext cx="182880" cy="0"/>
          </a:xfrm>
          <a:prstGeom prst="line">
            <a:avLst/>
          </a:prstGeom>
          <a:noFill/>
          <a:ln w="254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29200" y="1636776"/>
            <a:ext cx="182880" cy="0"/>
          </a:xfrm>
          <a:prstGeom prst="line">
            <a:avLst/>
          </a:prstGeom>
          <a:noFill/>
          <a:ln w="254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583680" y="1636776"/>
            <a:ext cx="182880" cy="0"/>
          </a:xfrm>
          <a:prstGeom prst="line">
            <a:avLst/>
          </a:prstGeom>
          <a:noFill/>
          <a:ln w="254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321040" y="1051560"/>
            <a:ext cx="685800" cy="6400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321040" y="105156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Detector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BER Analyzer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8321040" y="1828800"/>
            <a:ext cx="685800" cy="64008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321040" y="182880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APD Detector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BER Analyzer</a:t>
            </a:r>
            <a:endParaRPr lang="en-US" sz="7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2039656"/>
              </p:ext>
            </p:extLst>
          </p:nvPr>
        </p:nvGraphicFramePr>
        <p:xfrm>
          <a:off x="182880" y="2423160"/>
          <a:ext cx="4114800" cy="25908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</a:rPr>
                        <a:t>Sequence Length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128 bits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</a:rPr>
                        <a:t>Sample Rate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2.5e12 Hz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</a:rPr>
                        <a:t>Bit Rate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Bitrate (variable)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</a:rPr>
                        <a:t>Fiber (NZDSF)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~10.1 dB loss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</a:rPr>
                        <a:t>EDFA Gain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15.1 dB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</a:rPr>
                        <a:t>EDFA Noise Figure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5 dB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</a:rPr>
                        <a:t>DCF Length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~12.5 km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</a:rPr>
                        <a:t>WDM Loop Count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3 loops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</a:rPr>
                        <a:t>WDM Mux Insertion Loss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3 dB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9" name="Shape 26"/>
          <p:cNvSpPr/>
          <p:nvPr/>
        </p:nvSpPr>
        <p:spPr>
          <a:xfrm>
            <a:off x="4480560" y="2423160"/>
            <a:ext cx="4434840" cy="246888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572000" y="24871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Notes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572000" y="2788920"/>
            <a:ext cx="4206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optical fiber loops with DCF compensation simulate realistic long-haul propagation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EDFA placed post-transmission compensates for cumulative fiber attenuation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PIN and APD receivers evaluated per channel for comprehensive detector comparison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Low-pass Bessel filters (cutoff = 0.75×Bitrate Hz) used at receivers to limit noise bandwidth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Splitters (1×2) distribute signal to both detector branches simultaneously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Oscilloscope and BER Analyzer capture both time-domain and statistical performance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F56A75-8F0E-F1A1-C2B0-4D5FA244B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55418CB-C2B9-69C7-8D15-E66905D3C5D5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CD4A3C4-0DFF-9E9C-101E-549E1B655F59}"/>
              </a:ext>
            </a:extLst>
          </p:cNvPr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WDM System Architecture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4B7BC2E-9369-BDCF-6942-2438121D0C04}"/>
              </a:ext>
            </a:extLst>
          </p:cNvPr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OptiSystem Simulation — Full Layout Overview</a:t>
            </a:r>
            <a:endParaRPr lang="en-US" sz="13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D35A4CD-98CE-360C-05AC-19F154DE06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935" y="1042416"/>
            <a:ext cx="7828442" cy="37659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46289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A8F2CB-06AC-BB7A-AF73-B95AAF8E7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CE1AD1F-9B12-62C0-CF07-C34CF3746C20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3AD893B-9515-4FE9-757D-3EAEFBBDFE67}"/>
              </a:ext>
            </a:extLst>
          </p:cNvPr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WDM System Architecture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120D6F1-8968-0DFB-D46D-ABD9009DB5B6}"/>
              </a:ext>
            </a:extLst>
          </p:cNvPr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OptiSystem Simulation — Full Layout Overview</a:t>
            </a:r>
            <a:endParaRPr lang="en-US" sz="13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D1B9CD-D604-DEDB-F89D-4A02C89CA7A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239" y="1111640"/>
            <a:ext cx="7772907" cy="35517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8379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Configuration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8-Channel WDM System — Transmitter Properties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3066427"/>
              </p:ext>
            </p:extLst>
          </p:nvPr>
        </p:nvGraphicFramePr>
        <p:xfrm>
          <a:off x="182880" y="960120"/>
          <a:ext cx="7680960" cy="393192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6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 #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Laser Type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Input Power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Modulator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PIN BER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APD BER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Best</a:t>
                      </a:r>
                      <a:endParaRPr lang="en-US" sz="1000" dirty="0"/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Detector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237E"/>
                          </a:solidFill>
                        </a:rPr>
                        <a:t>CH 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CW Laser 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16 dBm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Mach-Zehnder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8.73×10⁻⁷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9.18×10⁻⁷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≈ Equal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237E"/>
                          </a:solidFill>
                        </a:rPr>
                        <a:t>CH 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Ideal Single-Mode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7 dBm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Mach-Zehnder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4.06×10⁻⁷⁸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5.52×10⁻⁵⁷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</a:rPr>
                        <a:t>PIN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237E"/>
                          </a:solidFill>
                        </a:rPr>
                        <a:t>CH 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Directly Modulated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10 dBm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Direct (built-in)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4.12×10⁻⁶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3.50×10⁻⁶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APD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237E"/>
                          </a:solidFill>
                        </a:rPr>
                        <a:t>CH 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CW Laser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10 dBm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Mach-Zehnder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4.58×10⁻⁴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4.32×10⁻⁴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APD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237E"/>
                          </a:solidFill>
                        </a:rPr>
                        <a:t>CH 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Ideal Single-Mode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10 dBm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Mach-Zehnder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3.73×10⁻⁷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3.37×10⁻⁷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APD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237E"/>
                          </a:solidFill>
                        </a:rPr>
                        <a:t>CH 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Directly Modulated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10 dBm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Direct (built-in)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7.41×10⁻⁶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8.37×10⁻⁶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</a:rPr>
                        <a:t>PIN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237E"/>
                          </a:solidFill>
                        </a:rPr>
                        <a:t>CH 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Empirical Laser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External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1.13×10⁻¹¹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4.84×10⁻¹²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APD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237E"/>
                          </a:solidFill>
                        </a:rPr>
                        <a:t>CH 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CW Laser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11 dBm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Mach-Zehnder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1.57×10⁻¹²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6.62×10⁻¹³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APD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82880" y="484632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All channels use Low-Pass Bessel Filters with cutoff = 0.75×Bitrate Hz at the receiver. Colors: Green = PIN better, Blue = APD better.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Results: BER &amp; Q-Factor — All Channels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simulation results with quality assessment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960120"/>
          <a:ext cx="6949440" cy="3657600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Channel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Q (PIN)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BER (PIN)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Status (PIN)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Q (APD)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BER (APD)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Status (APD)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Gain APD&gt;PIN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CH 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4.781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8.73e-7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65100"/>
                          </a:solidFill>
                        </a:rPr>
                        <a:t>Marginal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4.770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9.18e-7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65100"/>
                          </a:solidFill>
                        </a:rPr>
                        <a:t>Marginal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62828"/>
                          </a:solidFill>
                        </a:rPr>
                        <a:t>-0.2%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CH 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18.652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4.06e-78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Excellent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15.836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5.52e-57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Excellent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62828"/>
                          </a:solidFill>
                        </a:rPr>
                        <a:t>-15.1%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CH 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4.405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4.12e-6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Poor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4.440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3.50e-6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Poor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7D32"/>
                          </a:solidFill>
                        </a:rPr>
                        <a:t>+0.8%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CH 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3.309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4.58e-4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Poor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3.326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4.32e-4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Poor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7D32"/>
                          </a:solidFill>
                        </a:rPr>
                        <a:t>+0.5%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CH 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4.930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3.73e-7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65100"/>
                          </a:solidFill>
                        </a:rPr>
                        <a:t>Marginal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4.950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3.37e-7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65100"/>
                          </a:solidFill>
                        </a:rPr>
                        <a:t>Marginal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7D32"/>
                          </a:solidFill>
                        </a:rPr>
                        <a:t>+0.4%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CH 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4.296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7.41e-6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Poor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4.270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8.37e-6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Poor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62828"/>
                          </a:solidFill>
                        </a:rPr>
                        <a:t>-0.6%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CH 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6.683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1.13e-11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88E3C"/>
                          </a:solidFill>
                        </a:rPr>
                        <a:t>Good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6.807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4.84e-12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88E3C"/>
                          </a:solidFill>
                        </a:rPr>
                        <a:t>Good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7D32"/>
                          </a:solidFill>
                        </a:rPr>
                        <a:t>+1.9%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CH 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6.963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1.57e-12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88E3C"/>
                          </a:solidFill>
                        </a:rPr>
                        <a:t>Good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7.085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6.62e-13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Excellent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7D32"/>
                          </a:solidFill>
                        </a:rPr>
                        <a:t>+1.7%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274320" y="4709160"/>
            <a:ext cx="137160" cy="13716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46908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Excellent: BER ≤ 10⁻¹²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377440" y="4709160"/>
            <a:ext cx="137160" cy="137160"/>
          </a:xfrm>
          <a:prstGeom prst="rect">
            <a:avLst/>
          </a:prstGeom>
          <a:solidFill>
            <a:srgbClr val="388E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560320" y="46908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Good: BER ≤ 10⁻⁹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480560" y="4709160"/>
            <a:ext cx="137160" cy="13716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663440" y="46908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Marginal: BER ≤ 10⁻⁶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583680" y="4709160"/>
            <a:ext cx="137160" cy="13716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766560" y="46908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Poor: BER &gt; 10⁻⁶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Q-Factor Comparison: All Channels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vs APD detectors — higher Q = better performance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4031238928"/>
              </p:ext>
            </p:extLst>
          </p:nvPr>
        </p:nvGraphicFramePr>
        <p:xfrm>
          <a:off x="182880" y="1074420"/>
          <a:ext cx="62179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675120" y="914400"/>
            <a:ext cx="2286000" cy="393192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766560" y="10058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766560" y="1389888"/>
            <a:ext cx="109728" cy="109728"/>
          </a:xfrm>
          <a:prstGeom prst="ellipse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922008" y="135331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 dominates with Q = 18.65 (PIN) — ideal laser at low power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766560" y="1865376"/>
            <a:ext cx="109728" cy="109728"/>
          </a:xfrm>
          <a:prstGeom prst="ellipse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922008" y="182880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4 is the worst performer (Q ≈ 3.3) — CW at 10 dBm with heavy crosstalk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766560" y="2340864"/>
            <a:ext cx="109728" cy="109728"/>
          </a:xfrm>
          <a:prstGeom prst="ellipse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922008" y="230428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APD slightly outperforms PIN in most channels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766560" y="2816352"/>
            <a:ext cx="109728" cy="109728"/>
          </a:xfrm>
          <a:prstGeom prst="ellipse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922008" y="277977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2: PIN &gt; APD — single-mode coherence advantage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766560" y="3291840"/>
            <a:ext cx="109728" cy="109728"/>
          </a:xfrm>
          <a:prstGeom prst="ellipse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922008" y="325526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Q = 6 for BER ≤ 10⁻⁹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766560" y="3767328"/>
            <a:ext cx="109728" cy="109728"/>
          </a:xfrm>
          <a:prstGeom prst="ellipse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922008" y="373075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CH 7 &amp; CH 8 comfortably exceed Q = 6 threshold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 Performance Overview: All Channels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Logarithmic scale — lower BER = better performance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380840488"/>
              </p:ext>
            </p:extLst>
          </p:nvPr>
        </p:nvGraphicFramePr>
        <p:xfrm>
          <a:off x="137160" y="1124712"/>
          <a:ext cx="585216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309360" y="914400"/>
            <a:ext cx="2651760" cy="365760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0" y="9875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 Summary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298448"/>
          <a:ext cx="2514600" cy="3127248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84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Channel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PIN BER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APD BER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7E"/>
                          </a:solidFill>
                        </a:rPr>
                        <a:t>CH 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7E"/>
                          </a:solidFill>
                        </a:rPr>
                        <a:t>8.73e-7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7E"/>
                          </a:solidFill>
                        </a:rPr>
                        <a:t>9.18e-7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7E"/>
                          </a:solidFill>
                        </a:rPr>
                        <a:t>CH 2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7E"/>
                          </a:solidFill>
                        </a:rPr>
                        <a:t>4.06e-78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7E"/>
                          </a:solidFill>
                        </a:rPr>
                        <a:t>5.52e-57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7E"/>
                          </a:solidFill>
                        </a:rPr>
                        <a:t>CH 3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7E"/>
                          </a:solidFill>
                        </a:rPr>
                        <a:t>4.12e-6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7E"/>
                          </a:solidFill>
                        </a:rPr>
                        <a:t>3.50e-6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7E"/>
                          </a:solidFill>
                        </a:rPr>
                        <a:t>CH 4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7E"/>
                          </a:solidFill>
                        </a:rPr>
                        <a:t>4.58e-4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7E"/>
                          </a:solidFill>
                        </a:rPr>
                        <a:t>4.32e-4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7E"/>
                          </a:solidFill>
                        </a:rPr>
                        <a:t>CH 5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7E"/>
                          </a:solidFill>
                        </a:rPr>
                        <a:t>3.73e-7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7E"/>
                          </a:solidFill>
                        </a:rPr>
                        <a:t>3.37e-7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7E"/>
                          </a:solidFill>
                        </a:rPr>
                        <a:t>CH 6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7E"/>
                          </a:solidFill>
                        </a:rPr>
                        <a:t>7.41e-6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7E"/>
                          </a:solidFill>
                        </a:rPr>
                        <a:t>8.37e-6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7E"/>
                          </a:solidFill>
                        </a:rPr>
                        <a:t>CH 7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7E"/>
                          </a:solidFill>
                        </a:rPr>
                        <a:t>1.13e-11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7E"/>
                          </a:solidFill>
                        </a:rPr>
                        <a:t>4.84e-12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7E"/>
                          </a:solidFill>
                        </a:rPr>
                        <a:t>CH 8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7E"/>
                          </a:solidFill>
                        </a:rPr>
                        <a:t>1.57e-12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7E"/>
                          </a:solidFill>
                        </a:rPr>
                        <a:t>6.62e-13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1: CW Laser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70408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Power: 16 dBm  |  PIN &amp; APD Performance Analysis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2560320" cy="78638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96926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4.781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Q-Factor (PIN)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54680" y="932688"/>
            <a:ext cx="2560320" cy="786384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54680" y="96926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8.73e-7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15468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 (PIN)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80760" y="932688"/>
            <a:ext cx="2560320" cy="786384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80760" y="96926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08076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(PIN)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1828800"/>
            <a:ext cx="2560320" cy="78638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28600" y="186537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4.770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28600" y="22677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Q-Factor (APD)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54680" y="1828800"/>
            <a:ext cx="2560320" cy="78638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154680" y="186537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9.18e-7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154680" y="22677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 (APD)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80760" y="1828800"/>
            <a:ext cx="2560320" cy="786384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80760" y="186537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080760" y="22677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(APD)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2816352"/>
            <a:ext cx="5029200" cy="210312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" y="287121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1 Analysis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" y="3182112"/>
            <a:ext cx="484632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 Laser at highest power (16 dBm) in the WDM system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PIN and APD deliver nearly identical performance (Q ≈ 4.78)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 ≈ 8.73×10⁻⁷ — above the 10⁻⁹ threshold — marginal quality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launch power causes inter-channel crosstalk and nonlinear effects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diagram shows significant noise spread, partially open eye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 power does not compensate for WDM-induced crosstalk at 16 dBm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40680" y="2816352"/>
            <a:ext cx="34747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532120" y="28712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Indicators</a:t>
            </a:r>
            <a:endParaRPr lang="en-US" sz="1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32120" y="3182112"/>
          <a:ext cx="3291840" cy="1664208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PIN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APD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Q-Factor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4.78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4.77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Min BER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8.73e-7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9.18e-7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Eye Height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1.05e-3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3.13e-3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65100"/>
                          </a:solidFill>
                        </a:rPr>
                        <a:t>BER Status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65100"/>
                          </a:solidFill>
                        </a:rPr>
                        <a:t>Marginal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65100"/>
                          </a:solidFill>
                        </a:rPr>
                        <a:t>Marginal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Winner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43A262-F96E-6549-D172-327903FB0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41C1F16-2260-D706-3C20-6B41F88DDDA2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B81DA34-3F67-0C64-9E81-D5EAD9BF5917}"/>
              </a:ext>
            </a:extLst>
          </p:cNvPr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1: CW Laser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65E895F-6AFB-31EC-576A-4E5CEAD964F6}"/>
              </a:ext>
            </a:extLst>
          </p:cNvPr>
          <p:cNvSpPr/>
          <p:nvPr/>
        </p:nvSpPr>
        <p:spPr>
          <a:xfrm>
            <a:off x="365760" y="70408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Power: 16 dBm  |  PIN Performance Analysis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B9428B7-0C05-B6A6-C67A-D5F0BFB04530}"/>
              </a:ext>
            </a:extLst>
          </p:cNvPr>
          <p:cNvSpPr/>
          <p:nvPr/>
        </p:nvSpPr>
        <p:spPr>
          <a:xfrm>
            <a:off x="228600" y="96926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4.781</a:t>
            </a:r>
            <a:endParaRPr lang="en-US" sz="2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201A9EC-6411-E35B-FB72-11BB1F9CE544}"/>
              </a:ext>
            </a:extLst>
          </p:cNvPr>
          <p:cNvSpPr/>
          <p:nvPr/>
        </p:nvSpPr>
        <p:spPr>
          <a:xfrm>
            <a:off x="3154680" y="96926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8.73e-7</a:t>
            </a:r>
            <a:endParaRPr lang="en-US" sz="2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09E37D8-6DCA-E280-42B1-1C6F81D1F885}"/>
              </a:ext>
            </a:extLst>
          </p:cNvPr>
          <p:cNvSpPr/>
          <p:nvPr/>
        </p:nvSpPr>
        <p:spPr>
          <a:xfrm>
            <a:off x="6080760" y="96926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</a:t>
            </a:r>
            <a:endParaRPr lang="en-US" sz="20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5D7D29E-997C-AABE-85BB-DB0A266EB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89" y="1380744"/>
            <a:ext cx="4652352" cy="32836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BF88A2-5CB6-B67A-DB47-B7D9BB2FAF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0952" y="1331429"/>
            <a:ext cx="4159855" cy="333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324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E8B178-1F81-19BC-8B20-680D40CF9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5F05243-8AF4-6194-0EA6-674441524C20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C0B4725-0DF2-D5B4-7ADB-F6CD13710B2A}"/>
              </a:ext>
            </a:extLst>
          </p:cNvPr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1: CW Laser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264F745-6825-10E6-5C8D-50415D5579DF}"/>
              </a:ext>
            </a:extLst>
          </p:cNvPr>
          <p:cNvSpPr/>
          <p:nvPr/>
        </p:nvSpPr>
        <p:spPr>
          <a:xfrm>
            <a:off x="365760" y="70408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Power: 16 dBm  |  APD Performance Analysis</a:t>
            </a:r>
            <a:endParaRPr lang="en-US" sz="13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4E6C8D4-4628-328D-A935-3F36296DD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91" y="1342859"/>
            <a:ext cx="4291721" cy="331003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6B96942-2BE3-E408-E626-0982C201F5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2312" y="1198665"/>
            <a:ext cx="4724229" cy="359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20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2: Ideal Single-Mode Laser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69248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Power: 7 dBm  |  PIN &amp; APD Performance Analysis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2560320" cy="78638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96926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18.652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Q-Factor (PIN)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54680" y="932688"/>
            <a:ext cx="2560320" cy="786384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54680" y="96926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4.06e-78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15468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 (PIN)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80760" y="932688"/>
            <a:ext cx="2560320" cy="78638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80760" y="96926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08076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(PIN)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1828800"/>
            <a:ext cx="2560320" cy="78638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28600" y="186537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15.836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28600" y="22677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Q-Factor (APD)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54680" y="1828800"/>
            <a:ext cx="2560320" cy="78638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154680" y="186537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5.52e-57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154680" y="22677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 (APD)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80760" y="1828800"/>
            <a:ext cx="2560320" cy="78638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80760" y="186537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080760" y="22677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(APD)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2816352"/>
            <a:ext cx="5029200" cy="210312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" y="287121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2 Analysis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" y="3182112"/>
            <a:ext cx="484632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Single-Mode Laser at low power (7 dBm) — best performer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18.65 (PIN) — extraordinary performance, virtually error-free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 = 4.06×10⁻⁷⁸ — essentially zero, far below any threshold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Single-mode laser eliminates modal noise and chromatic dispersion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outperforms APD here — excess APD noise at low power dominates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clean eye diagram with maximum eye opening confirms quality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40680" y="2816352"/>
            <a:ext cx="34747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532120" y="28712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Indicators</a:t>
            </a:r>
            <a:endParaRPr lang="en-US" sz="1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32120" y="3182112"/>
          <a:ext cx="3291840" cy="1664208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PIN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APD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Q-Factor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18.65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15.84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Min BER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4.06e-78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5.52e-57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Eye Height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6.02e-4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1.76e-3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BER Status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7D32"/>
                          </a:solidFill>
                        </a:rPr>
                        <a:t>Excellent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7D32"/>
                          </a:solidFill>
                        </a:rPr>
                        <a:t>Excellent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Winner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6A42D2-BAC8-22D2-6B57-B8DC37A96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0D58BFE-1AC9-F550-F799-EF3393507A03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CE79270-49C2-D9CD-B088-EBD1240E44CA}"/>
              </a:ext>
            </a:extLst>
          </p:cNvPr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2: Ideal Single-Mode Laser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4931B54-A6EB-4CE5-2A5C-FAFB2D810016}"/>
              </a:ext>
            </a:extLst>
          </p:cNvPr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Power: 7 dBm  |  PIN Performance Analysis</a:t>
            </a:r>
            <a:endParaRPr lang="en-US" sz="13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4C2045-30BE-EA24-5DFC-19E6B9B89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" y="1290007"/>
            <a:ext cx="4533655" cy="34060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E3D3F3-4570-FB5B-CE65-459272B5A9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60" y="1380744"/>
            <a:ext cx="4186437" cy="3140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3924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DAF7CD-380C-348E-51AD-A41CBB431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7471179-DDE0-26EB-3A2B-E6260EB7912F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7748338-36B2-774B-0E3D-9221879B083C}"/>
              </a:ext>
            </a:extLst>
          </p:cNvPr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2: Ideal Single-Mode Laser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D015FE0-0498-126E-30EB-9DEA998DCF0C}"/>
              </a:ext>
            </a:extLst>
          </p:cNvPr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Power: 7 dBm  |  APD Performance Analysis</a:t>
            </a:r>
            <a:endParaRPr lang="en-US" sz="13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F402D48-B96A-8174-3726-E0FF8BD42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14" y="1278054"/>
            <a:ext cx="4644908" cy="332102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C2E9564-1182-1D82-2EC2-07545D08D0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5222" y="1362459"/>
            <a:ext cx="4295419" cy="3152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093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3: Directly Modulated Laser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812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Power: 10 dBm  |  PIN &amp; APD Performance Analysis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2560320" cy="78638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96926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4.405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Q-Factor (PIN)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54680" y="932688"/>
            <a:ext cx="2560320" cy="786384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54680" y="96926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4.12e-6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15468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 (PIN)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80760" y="932688"/>
            <a:ext cx="2560320" cy="786384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80760" y="96926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08076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(PIN)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1828800"/>
            <a:ext cx="2560320" cy="78638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28600" y="186537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4.440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28600" y="22677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Q-Factor (APD)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54680" y="1828800"/>
            <a:ext cx="2560320" cy="78638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154680" y="186537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3.50e-6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154680" y="22677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 (APD)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80760" y="1828800"/>
            <a:ext cx="2560320" cy="786384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80760" y="186537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080760" y="22677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(APD)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2816352"/>
            <a:ext cx="5029200" cy="210312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" y="287121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3 Analysis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" y="3182112"/>
            <a:ext cx="484632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Modulated Laser (DML) at 10 dBm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laser type due to inherent frequency chirp during modulation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 = 4.12×10⁻⁶ (PIN) — above 10⁻⁹ threshold, marginal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APD slightly better (BER = 3.50×10⁻⁶) due to higher sensitivity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Chirp broadens spectral width causing extra dispersion penalty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diagram shows asymmetric transitions characteristic of chirp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40680" y="2816352"/>
            <a:ext cx="34747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532120" y="28712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Indicators</a:t>
            </a:r>
            <a:endParaRPr lang="en-US" sz="1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32120" y="3182112"/>
          <a:ext cx="3291840" cy="1664208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PIN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APD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Q-Factor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4.40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4.44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Min BER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4.12e-6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3.50e-6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Eye Height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2.34e-3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8.39e-3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BER Status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62828"/>
                          </a:solidFill>
                        </a:rPr>
                        <a:t>Poor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62828"/>
                          </a:solidFill>
                        </a:rPr>
                        <a:t>Poor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Winner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EC3E99-913A-0233-EF1D-85C90C93C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CBC23B7-1FC5-486A-E1E1-5234B8B7F753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1C62E9B-0A96-7DBA-0992-96BF84922A97}"/>
              </a:ext>
            </a:extLst>
          </p:cNvPr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3: Directly Modulated Laser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567A03B-E558-5D51-7FF5-678EECD268F1}"/>
              </a:ext>
            </a:extLst>
          </p:cNvPr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Power: 10 dBm  |  PIN Performance Analysis</a:t>
            </a:r>
            <a:endParaRPr lang="en-US" sz="13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01C0A42-8E06-914F-EE84-09A134E37C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135968"/>
            <a:ext cx="4754880" cy="344188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6FE2E88-921C-5B81-A93F-57268AC8C9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79" y="1231929"/>
            <a:ext cx="4381421" cy="326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1231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7323F3-3A48-AC3D-602C-68A4C883B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BAD4FBC-2377-9AF8-3E6D-2D8A5C5003DC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D595D8E-4474-4E47-1778-39ABEEBE6B01}"/>
              </a:ext>
            </a:extLst>
          </p:cNvPr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3: Directly Modulated Laser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BC4690C-8B19-649D-9B52-44FF1C3F7919}"/>
              </a:ext>
            </a:extLst>
          </p:cNvPr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Power: 10 dBm  |   APD Performance Analysis</a:t>
            </a:r>
            <a:endParaRPr lang="en-US" sz="13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01876A-F5C9-DCF5-E307-9B5273CE47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78" y="1242045"/>
            <a:ext cx="4305030" cy="31516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396446-ED63-C9BE-C8BB-F7CD4F7388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585" y="1178454"/>
            <a:ext cx="4383639" cy="3344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8683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4: CW Laser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70408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Power: 10 dBm  |  PIN &amp; APD Performance Analysis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2560320" cy="78638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96926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3.309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Q-Factor (PIN)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54680" y="932688"/>
            <a:ext cx="2560320" cy="786384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54680" y="96926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4.58e-4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15468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 (PIN)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80760" y="932688"/>
            <a:ext cx="2560320" cy="786384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80760" y="96926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08076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(PIN)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1828800"/>
            <a:ext cx="2560320" cy="78638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28600" y="186537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3.326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28600" y="22677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Q-Factor (APD)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54680" y="1828800"/>
            <a:ext cx="2560320" cy="78638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154680" y="186537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4.32e-4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154680" y="22677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 (APD)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80760" y="1828800"/>
            <a:ext cx="2560320" cy="786384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80760" y="186537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080760" y="22677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(APD)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2816352"/>
            <a:ext cx="5029200" cy="210312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" y="287121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4 Analysis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" y="3182112"/>
            <a:ext cx="484632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 Laser at 10 dBm — worst overall channel in the system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≈ 3.3 — far below acceptable threshold; very poor performance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 ≈ 4.5×10⁻⁴ — completely unacceptable for any telecom standard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Severely degraded likely due to WDM channel interference/crosstalk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channel sits at a particularly noisy spectral position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mitigation: power optimization, better filtering, or FEC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40680" y="2816352"/>
            <a:ext cx="34747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532120" y="28712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Indicators</a:t>
            </a:r>
            <a:endParaRPr lang="en-US" sz="1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32120" y="3182112"/>
          <a:ext cx="3291840" cy="1664208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PIN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APD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Q-Factor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3.31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3.33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Min BER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4.58e-4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4.32e-4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Eye Height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1.07e-4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4.00e-4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BER Status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62828"/>
                          </a:solidFill>
                        </a:rPr>
                        <a:t>Poor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62828"/>
                          </a:solidFill>
                        </a:rPr>
                        <a:t>Poor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Winner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D202B7-B565-251C-B005-614147701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3277873-EA87-56F4-405B-EC5384294530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410B091-2F59-F1D6-93ED-D423DDE5FF70}"/>
              </a:ext>
            </a:extLst>
          </p:cNvPr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4: CW Laser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97334B2-18DD-BCD1-DCE8-1E8C0F96F4B2}"/>
              </a:ext>
            </a:extLst>
          </p:cNvPr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Power: 10 dBm  |  PIN Performance Analysis</a:t>
            </a:r>
            <a:endParaRPr lang="en-US" sz="13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83AB4CB-F20A-D4C4-CD7D-0AA5786845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26" y="1323242"/>
            <a:ext cx="4295164" cy="333096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72F0AB4-B6E8-0AE2-FC39-F450A1E3A4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334672"/>
            <a:ext cx="4218239" cy="3330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8871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72E0D7-47F9-BC77-DB5B-7C439EB15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957D4B7-95A5-B3E0-2E19-257B28465271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0CCDE68-0906-54CB-87E0-9A2A7784659C}"/>
              </a:ext>
            </a:extLst>
          </p:cNvPr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4: CW Laser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CCE128E-DB72-8631-BD84-25DBA200FF73}"/>
              </a:ext>
            </a:extLst>
          </p:cNvPr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Power: 10 dBm  |  APD Performance Analysis</a:t>
            </a:r>
            <a:endParaRPr lang="en-US" sz="13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92C2954-6EC8-99AD-F124-3EF72F90FE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64" y="1070713"/>
            <a:ext cx="4547936" cy="338766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3DF7EB73-0A2E-1978-9FCE-AA3A923870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2291" y="1070713"/>
            <a:ext cx="4483682" cy="3515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1797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5348B6-037C-38B5-7A23-72A8FC1AC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0B76791-0403-D99B-4F12-2037AFABC32B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77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6D67ABC-A205-E3AC-F46A-899481A9D5B6}"/>
              </a:ext>
            </a:extLst>
          </p:cNvPr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5: Ideal Single-Mode Laser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D2BEA11-BDC7-D39B-4AFE-1EE6D419B234}"/>
              </a:ext>
            </a:extLst>
          </p:cNvPr>
          <p:cNvSpPr/>
          <p:nvPr/>
        </p:nvSpPr>
        <p:spPr>
          <a:xfrm>
            <a:off x="365760" y="70655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Power: 10 dBm  |  PIN &amp; APD Performance Analysis</a:t>
            </a:r>
            <a:endParaRPr lang="en-US" sz="13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C44A513-14EB-2540-8F3B-B73B59DC1399}"/>
              </a:ext>
            </a:extLst>
          </p:cNvPr>
          <p:cNvSpPr/>
          <p:nvPr/>
        </p:nvSpPr>
        <p:spPr>
          <a:xfrm>
            <a:off x="228600" y="932688"/>
            <a:ext cx="2560320" cy="78638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2204D85-246E-C96D-181A-CA552A0F45D9}"/>
              </a:ext>
            </a:extLst>
          </p:cNvPr>
          <p:cNvSpPr/>
          <p:nvPr/>
        </p:nvSpPr>
        <p:spPr>
          <a:xfrm>
            <a:off x="228600" y="96926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4.930</a:t>
            </a:r>
            <a:endParaRPr lang="en-US" sz="2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D7AA4F0-927C-B2BA-12E9-C96CBD82F48D}"/>
              </a:ext>
            </a:extLst>
          </p:cNvPr>
          <p:cNvSpPr/>
          <p:nvPr/>
        </p:nvSpPr>
        <p:spPr>
          <a:xfrm>
            <a:off x="22860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Q-Factor (PIN)</a:t>
            </a:r>
            <a:endParaRPr lang="en-US" sz="9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BCAE8E8-D120-5182-C3FE-EE3519708007}"/>
              </a:ext>
            </a:extLst>
          </p:cNvPr>
          <p:cNvSpPr/>
          <p:nvPr/>
        </p:nvSpPr>
        <p:spPr>
          <a:xfrm>
            <a:off x="3154680" y="932688"/>
            <a:ext cx="2560320" cy="786384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CCD5BEC-5AE1-2170-AD61-CC7761C9F2ED}"/>
              </a:ext>
            </a:extLst>
          </p:cNvPr>
          <p:cNvSpPr/>
          <p:nvPr/>
        </p:nvSpPr>
        <p:spPr>
          <a:xfrm>
            <a:off x="3154680" y="96926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3.73e-7</a:t>
            </a:r>
            <a:endParaRPr lang="en-US" sz="2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7956934-E1EA-4DFA-566B-ADE461ED85BA}"/>
              </a:ext>
            </a:extLst>
          </p:cNvPr>
          <p:cNvSpPr/>
          <p:nvPr/>
        </p:nvSpPr>
        <p:spPr>
          <a:xfrm>
            <a:off x="315468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 (PIN)</a:t>
            </a:r>
            <a:endParaRPr lang="en-US" sz="9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ECACF07-D143-D93D-BB3E-FA4BCED8EA63}"/>
              </a:ext>
            </a:extLst>
          </p:cNvPr>
          <p:cNvSpPr/>
          <p:nvPr/>
        </p:nvSpPr>
        <p:spPr>
          <a:xfrm>
            <a:off x="6080760" y="932688"/>
            <a:ext cx="2560320" cy="786384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54CC6E8-A45A-3775-9A1B-7038CF275936}"/>
              </a:ext>
            </a:extLst>
          </p:cNvPr>
          <p:cNvSpPr/>
          <p:nvPr/>
        </p:nvSpPr>
        <p:spPr>
          <a:xfrm>
            <a:off x="6080760" y="96926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</a:t>
            </a:r>
            <a:endParaRPr lang="en-US" sz="2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EA268CD-DB2B-AE96-C43C-867269716AE6}"/>
              </a:ext>
            </a:extLst>
          </p:cNvPr>
          <p:cNvSpPr/>
          <p:nvPr/>
        </p:nvSpPr>
        <p:spPr>
          <a:xfrm>
            <a:off x="608076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(PIN)</a:t>
            </a:r>
            <a:endParaRPr lang="en-US" sz="9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08EC554-8646-1E09-5293-01D20B4BAE01}"/>
              </a:ext>
            </a:extLst>
          </p:cNvPr>
          <p:cNvSpPr/>
          <p:nvPr/>
        </p:nvSpPr>
        <p:spPr>
          <a:xfrm>
            <a:off x="228600" y="1828800"/>
            <a:ext cx="2560320" cy="78638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425B6EF-BCDA-E813-290A-DAE6AE2C8E99}"/>
              </a:ext>
            </a:extLst>
          </p:cNvPr>
          <p:cNvSpPr/>
          <p:nvPr/>
        </p:nvSpPr>
        <p:spPr>
          <a:xfrm>
            <a:off x="228600" y="186537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4.950</a:t>
            </a:r>
            <a:endParaRPr lang="en-US" sz="2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CD5AE58-337B-4A51-FD32-424406BF2002}"/>
              </a:ext>
            </a:extLst>
          </p:cNvPr>
          <p:cNvSpPr/>
          <p:nvPr/>
        </p:nvSpPr>
        <p:spPr>
          <a:xfrm>
            <a:off x="228600" y="22677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Q-Factor (APD)</a:t>
            </a:r>
            <a:endParaRPr lang="en-US" sz="9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A62076A-709F-64E6-3590-F8D80FC60D3C}"/>
              </a:ext>
            </a:extLst>
          </p:cNvPr>
          <p:cNvSpPr/>
          <p:nvPr/>
        </p:nvSpPr>
        <p:spPr>
          <a:xfrm>
            <a:off x="3154680" y="1828800"/>
            <a:ext cx="2560320" cy="78638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D96D5D4-5104-8FD1-354A-6E95A109F19A}"/>
              </a:ext>
            </a:extLst>
          </p:cNvPr>
          <p:cNvSpPr/>
          <p:nvPr/>
        </p:nvSpPr>
        <p:spPr>
          <a:xfrm>
            <a:off x="3154680" y="186537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3.37e-7</a:t>
            </a:r>
            <a:endParaRPr lang="en-US" sz="2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3F9ABD0-9641-ADFA-6269-4285AE6D46A1}"/>
              </a:ext>
            </a:extLst>
          </p:cNvPr>
          <p:cNvSpPr/>
          <p:nvPr/>
        </p:nvSpPr>
        <p:spPr>
          <a:xfrm>
            <a:off x="3154680" y="22677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 (APD)</a:t>
            </a:r>
            <a:endParaRPr lang="en-US" sz="9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696B446-13BA-45E7-964A-04501FEB0FC3}"/>
              </a:ext>
            </a:extLst>
          </p:cNvPr>
          <p:cNvSpPr/>
          <p:nvPr/>
        </p:nvSpPr>
        <p:spPr>
          <a:xfrm>
            <a:off x="6080760" y="1828800"/>
            <a:ext cx="2560320" cy="786384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4CB1288-8296-E83C-C82B-4F5EFC5ABB93}"/>
              </a:ext>
            </a:extLst>
          </p:cNvPr>
          <p:cNvSpPr/>
          <p:nvPr/>
        </p:nvSpPr>
        <p:spPr>
          <a:xfrm>
            <a:off x="6080760" y="186537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</a:t>
            </a:r>
            <a:endParaRPr lang="en-US" sz="20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7BA2CAC-509B-7AE9-1C68-8BD20E8D7356}"/>
              </a:ext>
            </a:extLst>
          </p:cNvPr>
          <p:cNvSpPr/>
          <p:nvPr/>
        </p:nvSpPr>
        <p:spPr>
          <a:xfrm>
            <a:off x="6080760" y="22677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(APD)</a:t>
            </a:r>
            <a:endParaRPr lang="en-US" sz="9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63C04E4C-B67D-42EA-5F79-3934AB04C9A2}"/>
              </a:ext>
            </a:extLst>
          </p:cNvPr>
          <p:cNvSpPr/>
          <p:nvPr/>
        </p:nvSpPr>
        <p:spPr>
          <a:xfrm>
            <a:off x="228600" y="2816352"/>
            <a:ext cx="5029200" cy="210312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14F36D4-8184-2551-C11D-0AD79FD91EBE}"/>
              </a:ext>
            </a:extLst>
          </p:cNvPr>
          <p:cNvSpPr/>
          <p:nvPr/>
        </p:nvSpPr>
        <p:spPr>
          <a:xfrm>
            <a:off x="320040" y="287121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5 Analysis</a:t>
            </a:r>
            <a:endParaRPr lang="en-US" sz="12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9F0B2837-06D3-A1A5-65BB-BD3C2A201BEF}"/>
              </a:ext>
            </a:extLst>
          </p:cNvPr>
          <p:cNvSpPr/>
          <p:nvPr/>
        </p:nvSpPr>
        <p:spPr>
          <a:xfrm>
            <a:off x="320040" y="3182112"/>
            <a:ext cx="484632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Single-Mode Laser at 10 dBm — second best performer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≈ 4.93 (PIN), 4.95 (APD) — solid, near-threshold performance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 ≈ 3.7×10⁻⁷ — slightly above 10⁻⁹ threshold but close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power (vs CH2 at 7 dBm) introduces more nonlinear noise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APD marginally better — avalanche gain helps at this power level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diagram is moderately open with some crosstalk-induced jitter</a:t>
            </a:r>
            <a:endParaRPr lang="en-US" sz="95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7169ED30-7735-B90F-B7F9-A4144E109826}"/>
              </a:ext>
            </a:extLst>
          </p:cNvPr>
          <p:cNvSpPr/>
          <p:nvPr/>
        </p:nvSpPr>
        <p:spPr>
          <a:xfrm>
            <a:off x="5440680" y="2816352"/>
            <a:ext cx="34747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2083C92F-7E24-5DA5-7F1B-C92EF653AB6D}"/>
              </a:ext>
            </a:extLst>
          </p:cNvPr>
          <p:cNvSpPr/>
          <p:nvPr/>
        </p:nvSpPr>
        <p:spPr>
          <a:xfrm>
            <a:off x="5532120" y="28712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Indicators</a:t>
            </a:r>
            <a:endParaRPr lang="en-US" sz="1200" dirty="0"/>
          </a:p>
        </p:txBody>
      </p:sp>
      <p:graphicFrame>
        <p:nvGraphicFramePr>
          <p:cNvPr id="28" name="Table 0">
            <a:extLst>
              <a:ext uri="{FF2B5EF4-FFF2-40B4-BE49-F238E27FC236}">
                <a16:creationId xmlns:a16="http://schemas.microsoft.com/office/drawing/2014/main" id="{5C262854-2C5A-4C08-AB02-177705D5E392}"/>
              </a:ext>
            </a:extLst>
          </p:cNvPr>
          <p:cNvGraphicFramePr>
            <a:graphicFrameLocks noGrp="1"/>
          </p:cNvGraphicFramePr>
          <p:nvPr/>
        </p:nvGraphicFramePr>
        <p:xfrm>
          <a:off x="5532120" y="3182112"/>
          <a:ext cx="3291840" cy="1664208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PIN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APD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Q-Factor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4.93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4.95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Min BER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3.73e-7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3.37e-7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Eye Height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1.37e-3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4.87e-3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65100"/>
                          </a:solidFill>
                        </a:rPr>
                        <a:t>BER Status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65100"/>
                          </a:solidFill>
                        </a:rPr>
                        <a:t>Marginal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65100"/>
                          </a:solidFill>
                        </a:rPr>
                        <a:t>Marginal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Winner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87943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77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5: Ideal Single-Mode Laser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Power: 10 dBm  |  PIN Performance Analysis</a:t>
            </a:r>
            <a:endParaRPr lang="en-US" sz="13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907D36C-6F35-9527-314D-6EBF3BB3E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38" y="1295986"/>
            <a:ext cx="4443539" cy="327601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0A8622A-3B05-D5B4-B250-628A368CB5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6238" y="1245955"/>
            <a:ext cx="4444120" cy="348782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233BF9-9205-5643-D07D-68C79084D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055222D-0617-880B-58F3-4CF68EEBB83C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77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DE5EB15-5ED8-3B32-C29A-3C96FEC2AB7E}"/>
              </a:ext>
            </a:extLst>
          </p:cNvPr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5: Ideal Single-Mode Laser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6CD7E4C-67EE-72C4-2E2C-CA11D22614E8}"/>
              </a:ext>
            </a:extLst>
          </p:cNvPr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Power: 10 dBm  |  APD Performance Analysis</a:t>
            </a:r>
            <a:endParaRPr lang="en-US" sz="13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8DB375-60A0-1B47-5731-94867243E0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151" y="1422264"/>
            <a:ext cx="4055831" cy="30428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B35FA3-BACA-DDD7-9F38-F7299127FB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4677" y="1324484"/>
            <a:ext cx="4449083" cy="323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5377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6: Directly Modulated Laser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Power: 10 dBm  |  PIN &amp; APD Performance Analysis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2560320" cy="78638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96926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4.296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Q-Factor (PIN)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54680" y="932688"/>
            <a:ext cx="2560320" cy="786384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54680" y="96926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7.41e-6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15468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 (PIN)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80760" y="932688"/>
            <a:ext cx="2560320" cy="786384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80760" y="96926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08076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(PIN)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1828800"/>
            <a:ext cx="2560320" cy="78638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28600" y="186537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4.270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28600" y="22677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Q-Factor (APD)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54680" y="1828800"/>
            <a:ext cx="2560320" cy="78638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154680" y="186537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8.37e-6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154680" y="22677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 (APD)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80760" y="1828800"/>
            <a:ext cx="2560320" cy="786384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80760" y="186537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080760" y="22677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(APD)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2816352"/>
            <a:ext cx="5029200" cy="210312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" y="287121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6 Analysis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" y="3182112"/>
            <a:ext cx="484632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Modulated Laser at 10 dBm — mirrors CH3 degradation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≈ 4.3 — below acceptable threshold, marginal-to-poor quality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 ≈ 7.4×10⁻⁶ — worse than CH3 due to different spectral placement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slightly outperforms APD here — APD excess noise unfavorable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DML channel confirms that direct modulation is problematic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chirp interaction with fiber dispersion is the key penalty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40680" y="2816352"/>
            <a:ext cx="34747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532120" y="28712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Indicators</a:t>
            </a:r>
            <a:endParaRPr lang="en-US" sz="1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32120" y="3182112"/>
          <a:ext cx="3291840" cy="1664208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PIN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APD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Q-Factor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4.30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4.27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Min BER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7.41e-6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8.37e-6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Eye Height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2.59e-3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9.04e-3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BER Status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62828"/>
                          </a:solidFill>
                        </a:rPr>
                        <a:t>Poor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62828"/>
                          </a:solidFill>
                        </a:rPr>
                        <a:t>Poor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Winner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6AE7B8-46BB-B5A8-CC76-2E47C2F3C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3BB18AB-4F93-76FD-1549-3F2DAECCF2E2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CBADB3E-FEA6-4F67-B37A-C6B3C2D3F1DA}"/>
              </a:ext>
            </a:extLst>
          </p:cNvPr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6: Directly Modulated Laser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A9AC2F6-3699-C877-E407-3586BD90C779}"/>
              </a:ext>
            </a:extLst>
          </p:cNvPr>
          <p:cNvSpPr/>
          <p:nvPr/>
        </p:nvSpPr>
        <p:spPr>
          <a:xfrm>
            <a:off x="365760" y="6794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Power: 10 dBm  |  PIN Performance Analysis</a:t>
            </a:r>
            <a:endParaRPr lang="en-US" sz="13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ECDA623-F822-8478-8005-67DD67D21A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083" y="1301100"/>
            <a:ext cx="4135902" cy="31629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DD43E0-1EF3-B820-D381-CC97D05D2D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8609" y="1236949"/>
            <a:ext cx="4012272" cy="3227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6816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318131-4CB2-71B9-8979-BE49C7426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6E20F9F-B11C-0319-41E2-D1F04947E5D3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35F327A-2495-3C23-546A-922849919D80}"/>
              </a:ext>
            </a:extLst>
          </p:cNvPr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6: Directly Modulated Laser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C8921FC-EF56-592E-9D14-2153934D5276}"/>
              </a:ext>
            </a:extLst>
          </p:cNvPr>
          <p:cNvSpPr/>
          <p:nvPr/>
        </p:nvSpPr>
        <p:spPr>
          <a:xfrm>
            <a:off x="365760" y="6794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Power: 10 dBm  |  APD Performance Analysis</a:t>
            </a:r>
            <a:endParaRPr lang="en-US" sz="13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A4A21DD-2033-9FC3-63DB-19297B3B2C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95" y="1167276"/>
            <a:ext cx="4505595" cy="329675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D6C165B-F432-419A-84C5-7E7B3ED6F5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752" y="993176"/>
            <a:ext cx="4537853" cy="367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5500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F36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7: Empirical Laser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86503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Power: N/A  |  PIN &amp; APD Performance Analysis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2560320" cy="78638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96926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6.683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Q-Factor (PIN)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54680" y="932688"/>
            <a:ext cx="2560320" cy="786384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54680" y="96926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1.13e-11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15468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 (PIN)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80760" y="932688"/>
            <a:ext cx="2560320" cy="786384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80760" y="96926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08076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(PIN)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1828800"/>
            <a:ext cx="2560320" cy="78638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28600" y="186537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6.807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28600" y="22677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Q-Factor (APD)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54680" y="1828800"/>
            <a:ext cx="2560320" cy="78638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154680" y="186537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4.84e-12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154680" y="22677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 (APD)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80760" y="1828800"/>
            <a:ext cx="2560320" cy="786384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80760" y="186537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080760" y="22677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(APD)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2816352"/>
            <a:ext cx="5029200" cy="210312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" y="287121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7 Analysis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" y="3182112"/>
            <a:ext cx="484632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Laser — realistic, measurement-based model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≈ 6.68 (PIN), 6.81 (APD) — good performance, exceeds threshold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 ≈ 1.13×10⁻¹¹ — passes 10⁻⁹ standard comfortably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APD better: BER 4.84×10⁻¹² vs PIN 1.13×10⁻¹¹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model captures real-world laser RIN and linewidth effects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diagram shows clear opening — reliable channel for data transmission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40680" y="2816352"/>
            <a:ext cx="34747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532120" y="28712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Indicators</a:t>
            </a:r>
            <a:endParaRPr lang="en-US" sz="1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32120" y="3182112"/>
          <a:ext cx="3291840" cy="1664208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PIN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APD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Q-Factor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6.68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6.81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Min BER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1.13e-11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4.84e-12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Eye Height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2.18e-3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7.86e-3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B5E20"/>
                          </a:solidFill>
                        </a:rPr>
                        <a:t>BER Status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5E20"/>
                          </a:solidFill>
                        </a:rPr>
                        <a:t>Good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5E20"/>
                          </a:solidFill>
                        </a:rPr>
                        <a:t>Good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Winner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CC4F79-7F65-ED96-D7FC-E4E0F6942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A65F7D7-AA4A-7850-3B2D-929ED6509A28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F36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54C64C6-02D4-400E-E45B-9A2DA4F853EE}"/>
              </a:ext>
            </a:extLst>
          </p:cNvPr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7: Empirical Laser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EAAB657-F816-4450-BC20-BECCC003719A}"/>
              </a:ext>
            </a:extLst>
          </p:cNvPr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Power: N/A  |  PIN Performance Analysis</a:t>
            </a:r>
            <a:endParaRPr lang="en-US" sz="13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4D4EBA4-6F50-30E7-12EF-E295CE31BD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8" y="1300969"/>
            <a:ext cx="4511799" cy="318662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8EE7F97-7BEF-DA75-0DF4-4CBFD848D8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6524" y="1261989"/>
            <a:ext cx="4292988" cy="326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9264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B1D083-0060-AE82-44D7-7EFEF6B75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2CE40E4-8B08-E96F-4E8C-F680FF411A70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F36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D10C332-8F71-FC4C-417F-E75899DBDA0D}"/>
              </a:ext>
            </a:extLst>
          </p:cNvPr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7: Empirical Laser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ADA8B09-C4D4-24C8-5DE3-75D2571036B9}"/>
              </a:ext>
            </a:extLst>
          </p:cNvPr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Power: N/A  |  APD Performance Analysis</a:t>
            </a:r>
            <a:endParaRPr lang="en-US" sz="13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7D025D3-DF15-02FC-03E4-36B0496C0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81627"/>
            <a:ext cx="4610148" cy="345386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607DDAF-1566-437E-A579-E90A237CE2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0148" y="1281627"/>
            <a:ext cx="4435236" cy="3361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4064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9C8779-30D0-39BD-1003-2441DB7EF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5BEEE52-D6EE-C5A1-C7FF-FECBF7CD3B16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499DB26-9ADF-3C95-B756-83F6132C873B}"/>
              </a:ext>
            </a:extLst>
          </p:cNvPr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8: CW Laser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6E01EF0-98BA-29B5-5DC8-0BC515746312}"/>
              </a:ext>
            </a:extLst>
          </p:cNvPr>
          <p:cNvSpPr/>
          <p:nvPr/>
        </p:nvSpPr>
        <p:spPr>
          <a:xfrm>
            <a:off x="411480" y="6858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Power: 11 dBm  |  PIN &amp; APD Performance Analysis</a:t>
            </a:r>
            <a:endParaRPr lang="en-US" sz="13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B4ACED3-D4AA-DA00-CE30-CEB7158C2A42}"/>
              </a:ext>
            </a:extLst>
          </p:cNvPr>
          <p:cNvSpPr/>
          <p:nvPr/>
        </p:nvSpPr>
        <p:spPr>
          <a:xfrm>
            <a:off x="228600" y="932688"/>
            <a:ext cx="2560320" cy="78638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3C8618F-B87F-C3F7-8182-CAD023AEFBD2}"/>
              </a:ext>
            </a:extLst>
          </p:cNvPr>
          <p:cNvSpPr/>
          <p:nvPr/>
        </p:nvSpPr>
        <p:spPr>
          <a:xfrm>
            <a:off x="228600" y="96926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6.963</a:t>
            </a:r>
            <a:endParaRPr lang="en-US" sz="2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560D4E6-A68A-4C86-3247-7C7C38356688}"/>
              </a:ext>
            </a:extLst>
          </p:cNvPr>
          <p:cNvSpPr/>
          <p:nvPr/>
        </p:nvSpPr>
        <p:spPr>
          <a:xfrm>
            <a:off x="22860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Q-Factor (PIN)</a:t>
            </a:r>
            <a:endParaRPr lang="en-US" sz="9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AA78D7C-D9D9-C389-EE7D-7777D6C94AD1}"/>
              </a:ext>
            </a:extLst>
          </p:cNvPr>
          <p:cNvSpPr/>
          <p:nvPr/>
        </p:nvSpPr>
        <p:spPr>
          <a:xfrm>
            <a:off x="3154680" y="932688"/>
            <a:ext cx="2560320" cy="786384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B7C150B-D289-8A14-47F7-AC4677AB4652}"/>
              </a:ext>
            </a:extLst>
          </p:cNvPr>
          <p:cNvSpPr/>
          <p:nvPr/>
        </p:nvSpPr>
        <p:spPr>
          <a:xfrm>
            <a:off x="3154680" y="96926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1.57e-12</a:t>
            </a:r>
            <a:endParaRPr lang="en-US" sz="2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E374FBA-1459-762C-259F-0DBDE69D5BA3}"/>
              </a:ext>
            </a:extLst>
          </p:cNvPr>
          <p:cNvSpPr/>
          <p:nvPr/>
        </p:nvSpPr>
        <p:spPr>
          <a:xfrm>
            <a:off x="315468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 (PIN)</a:t>
            </a:r>
            <a:endParaRPr lang="en-US" sz="9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56E51E6-5019-BBC1-8B66-AEA6CD50B9E2}"/>
              </a:ext>
            </a:extLst>
          </p:cNvPr>
          <p:cNvSpPr/>
          <p:nvPr/>
        </p:nvSpPr>
        <p:spPr>
          <a:xfrm>
            <a:off x="6080760" y="932688"/>
            <a:ext cx="2560320" cy="786384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CF6F3EA-C18A-E41B-22A5-A79BCA008A78}"/>
              </a:ext>
            </a:extLst>
          </p:cNvPr>
          <p:cNvSpPr/>
          <p:nvPr/>
        </p:nvSpPr>
        <p:spPr>
          <a:xfrm>
            <a:off x="6080760" y="96926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2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F704F50-3624-48D4-93D8-2555C792DC65}"/>
              </a:ext>
            </a:extLst>
          </p:cNvPr>
          <p:cNvSpPr/>
          <p:nvPr/>
        </p:nvSpPr>
        <p:spPr>
          <a:xfrm>
            <a:off x="608076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(PIN)</a:t>
            </a:r>
            <a:endParaRPr lang="en-US" sz="9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7D54724-FE6F-C2D6-E2B2-22425B9A9C9C}"/>
              </a:ext>
            </a:extLst>
          </p:cNvPr>
          <p:cNvSpPr/>
          <p:nvPr/>
        </p:nvSpPr>
        <p:spPr>
          <a:xfrm>
            <a:off x="228600" y="1828800"/>
            <a:ext cx="2560320" cy="78638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E2FAC2C-39A1-F2C3-D68E-7D4F91B86B10}"/>
              </a:ext>
            </a:extLst>
          </p:cNvPr>
          <p:cNvSpPr/>
          <p:nvPr/>
        </p:nvSpPr>
        <p:spPr>
          <a:xfrm>
            <a:off x="228600" y="186537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7.085</a:t>
            </a:r>
            <a:endParaRPr lang="en-US" sz="2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8F6B82E-2E4C-FEEC-D675-4B688B914A42}"/>
              </a:ext>
            </a:extLst>
          </p:cNvPr>
          <p:cNvSpPr/>
          <p:nvPr/>
        </p:nvSpPr>
        <p:spPr>
          <a:xfrm>
            <a:off x="228600" y="22677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Q-Factor (APD)</a:t>
            </a:r>
            <a:endParaRPr lang="en-US" sz="9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8F6D5138-77CC-0AB1-7E90-03ED30C6654C}"/>
              </a:ext>
            </a:extLst>
          </p:cNvPr>
          <p:cNvSpPr/>
          <p:nvPr/>
        </p:nvSpPr>
        <p:spPr>
          <a:xfrm>
            <a:off x="3154680" y="1828800"/>
            <a:ext cx="2560320" cy="78638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4256918-9A59-1BCF-5860-8D7B1E89595F}"/>
              </a:ext>
            </a:extLst>
          </p:cNvPr>
          <p:cNvSpPr/>
          <p:nvPr/>
        </p:nvSpPr>
        <p:spPr>
          <a:xfrm>
            <a:off x="3154680" y="186537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6.62e-13</a:t>
            </a:r>
            <a:endParaRPr lang="en-US" sz="2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090FA06-23CE-280B-CE18-CA309B225137}"/>
              </a:ext>
            </a:extLst>
          </p:cNvPr>
          <p:cNvSpPr/>
          <p:nvPr/>
        </p:nvSpPr>
        <p:spPr>
          <a:xfrm>
            <a:off x="3154680" y="22677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 (APD)</a:t>
            </a:r>
            <a:endParaRPr lang="en-US" sz="9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1C2C8703-FA4B-89B1-9113-25F6C0D2FE0C}"/>
              </a:ext>
            </a:extLst>
          </p:cNvPr>
          <p:cNvSpPr/>
          <p:nvPr/>
        </p:nvSpPr>
        <p:spPr>
          <a:xfrm>
            <a:off x="6080760" y="1828800"/>
            <a:ext cx="2560320" cy="78638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062A8D7-B8DA-448E-C0E1-F493555F0EF5}"/>
              </a:ext>
            </a:extLst>
          </p:cNvPr>
          <p:cNvSpPr/>
          <p:nvPr/>
        </p:nvSpPr>
        <p:spPr>
          <a:xfrm>
            <a:off x="6080760" y="186537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20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E7E18C7-3392-DD31-F9B4-D61A808341BA}"/>
              </a:ext>
            </a:extLst>
          </p:cNvPr>
          <p:cNvSpPr/>
          <p:nvPr/>
        </p:nvSpPr>
        <p:spPr>
          <a:xfrm>
            <a:off x="6080760" y="22677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(APD)</a:t>
            </a:r>
            <a:endParaRPr lang="en-US" sz="9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2EB46DDA-9B4C-9FE2-3D28-48F9E32C2B60}"/>
              </a:ext>
            </a:extLst>
          </p:cNvPr>
          <p:cNvSpPr/>
          <p:nvPr/>
        </p:nvSpPr>
        <p:spPr>
          <a:xfrm>
            <a:off x="228600" y="2816352"/>
            <a:ext cx="5029200" cy="210312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D9DCE13E-6956-E718-9971-97C9926F380B}"/>
              </a:ext>
            </a:extLst>
          </p:cNvPr>
          <p:cNvSpPr/>
          <p:nvPr/>
        </p:nvSpPr>
        <p:spPr>
          <a:xfrm>
            <a:off x="320040" y="287121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8 Analysis</a:t>
            </a:r>
            <a:endParaRPr lang="en-US" sz="12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80E8683F-2F2C-2DF1-22A0-1F421879EB94}"/>
              </a:ext>
            </a:extLst>
          </p:cNvPr>
          <p:cNvSpPr/>
          <p:nvPr/>
        </p:nvSpPr>
        <p:spPr>
          <a:xfrm>
            <a:off x="320040" y="3182112"/>
            <a:ext cx="484632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 Laser at 11 dBm — best CW channel in the system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≈ 6.96 (PIN), 7.08 (APD) — excellent performance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 = 1.57×10⁻¹² (PIN) — meets the 10⁻¹² standard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APD achieves BER = 6.62×10⁻¹³ — superior sensitivity advantage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power (11 dBm) avoids both low-SNR and nonlinear regimes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Well-designed CW channel demonstrating optimal power management</a:t>
            </a:r>
            <a:endParaRPr lang="en-US" sz="95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7E589688-F77E-9C0E-0D94-5326401C7764}"/>
              </a:ext>
            </a:extLst>
          </p:cNvPr>
          <p:cNvSpPr/>
          <p:nvPr/>
        </p:nvSpPr>
        <p:spPr>
          <a:xfrm>
            <a:off x="5440680" y="2816352"/>
            <a:ext cx="34747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C1AD8257-E5CE-B585-4738-BE97D261E2F9}"/>
              </a:ext>
            </a:extLst>
          </p:cNvPr>
          <p:cNvSpPr/>
          <p:nvPr/>
        </p:nvSpPr>
        <p:spPr>
          <a:xfrm>
            <a:off x="5532120" y="28712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Indicators</a:t>
            </a:r>
            <a:endParaRPr lang="en-US" sz="1200" dirty="0"/>
          </a:p>
        </p:txBody>
      </p:sp>
      <p:graphicFrame>
        <p:nvGraphicFramePr>
          <p:cNvPr id="28" name="Table 0">
            <a:extLst>
              <a:ext uri="{FF2B5EF4-FFF2-40B4-BE49-F238E27FC236}">
                <a16:creationId xmlns:a16="http://schemas.microsoft.com/office/drawing/2014/main" id="{8FDADCDF-8682-FDBE-4EBF-81133E951B99}"/>
              </a:ext>
            </a:extLst>
          </p:cNvPr>
          <p:cNvGraphicFramePr>
            <a:graphicFrameLocks noGrp="1"/>
          </p:cNvGraphicFramePr>
          <p:nvPr/>
        </p:nvGraphicFramePr>
        <p:xfrm>
          <a:off x="5532120" y="3182112"/>
          <a:ext cx="3291840" cy="1664208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PIN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APD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Q-Factor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6.96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7.08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Min BER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1.57e-12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6.62e-13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Eye Height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6.27e-4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2.24e-3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BER Status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5E20"/>
                          </a:solidFill>
                        </a:rPr>
                        <a:t>Good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7D32"/>
                          </a:solidFill>
                        </a:rPr>
                        <a:t>Excellent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Winner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27033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8: CW Laser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Power: 11 dBm  |  PIN Performance Analysis</a:t>
            </a:r>
            <a:endParaRPr lang="en-US" sz="13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5342377-0EB7-86A7-83AE-30128D2DF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083" y="1195461"/>
            <a:ext cx="4541676" cy="320772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9224492-2352-361A-4AD3-3022860A25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5732" y="1158093"/>
            <a:ext cx="4186325" cy="324509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1FFD2E-C82E-0952-CB74-264A13705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F6356BF-55E4-B006-6D4C-C75384F1B556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023B51B-11E4-AE75-F191-22C5B7CFCA53}"/>
              </a:ext>
            </a:extLst>
          </p:cNvPr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8: CW Laser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B2A46B9-E580-7900-3B32-8ADD274ABD4E}"/>
              </a:ext>
            </a:extLst>
          </p:cNvPr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Power: 11 dBm  | APD Performance Analysis</a:t>
            </a:r>
            <a:endParaRPr lang="en-US" sz="13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B10346-7B31-46C9-3EA7-85675B4526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186"/>
            <a:ext cx="4580088" cy="3395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02146E-3DDF-35BA-6975-F388AC38D4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1389" y="1194441"/>
            <a:ext cx="4375052" cy="339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5856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vs APD Detector: Deep Comparison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55209" y="6858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Sensitivity, noise, gain, and application suitability analysis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4297680" cy="365760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914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Photodiode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4297680" cy="36576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63440" y="914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APD (Avalanche)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137160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PN junction — no internal gain mechanism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Responsivity: 0.65 A/W (from simulation)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current: 1 nA — low noise baseline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when signal-to-noise ratio is already high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APD on CH2 (ideal single-mode, 7 dBm) due to low excess noise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cost, simpler bias circuit requirements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for short-distance, high-power applications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sensitive to temperature and bias variations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137160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Avalanche multiplication — internal current gain M &gt; 1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Responsivity: 0.65 A/W × M (same base, more gain)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current: 1 nA × M — amplified but manageable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in 6 of 8 channels — avalanche gain helps weak signals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PIN on all channels ≥ 10 dBm input power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Achieves BER 6.62×10⁻¹³ on CH8 vs PIN's 1.57×10⁻¹²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for long-distance, attenuated signal recovery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sensitivity: critical where signal is margin-limited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" y="4343400"/>
            <a:ext cx="8778240" cy="658368"/>
          </a:xfrm>
          <a:prstGeom prst="rect">
            <a:avLst/>
          </a:prstGeom>
          <a:solidFill>
            <a:srgbClr val="ECEF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44074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Count from 8 Channels: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" y="4343400"/>
            <a:ext cx="137160" cy="658368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45079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Wins: 2 channels (CH2, CH6)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46634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involve specific conditions — low power ideal laser, or DML chirp interaction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108960" y="4343400"/>
            <a:ext cx="137160" cy="65836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91840" y="44074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APD Wins: 5 channels (CH3,4,5,7,8)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91840" y="46634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Avalanche gain provides decisive advantage at typical operating powers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035040" y="4343400"/>
            <a:ext cx="137160" cy="658368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17920" y="44074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 Equal: 1 channel (CH1)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17920" y="46634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Near-identical Q-factor — power level near crossover point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Cross-Channel Performance Ranking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best BER achieved (either detector)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411480" cy="43891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914400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969264"/>
            <a:ext cx="6035040" cy="329184"/>
          </a:xfrm>
          <a:prstGeom prst="rect">
            <a:avLst/>
          </a:prstGeom>
          <a:solidFill>
            <a:srgbClr val="2E7D32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996696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CH2 — Ideal Single-Mode Laser (7 dBm)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13232" y="1179576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BER: 4.06e-78  |  Best Q: 18.652  |  Best Detector: PIN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12280" y="969264"/>
            <a:ext cx="731520" cy="32918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12280" y="96926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35240" y="1005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Q=18.65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" y="1435608"/>
            <a:ext cx="411480" cy="43891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82880" y="1435608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" y="1490472"/>
            <a:ext cx="6035040" cy="329184"/>
          </a:xfrm>
          <a:prstGeom prst="rect">
            <a:avLst/>
          </a:prstGeom>
          <a:solidFill>
            <a:srgbClr val="2E7D32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3232" y="151790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CH8 — CW Laser (11 dBm)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13232" y="1700784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BER: 6.62e-13  |  Best Q: 7.085  |  Best Detector: APD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812280" y="1490472"/>
            <a:ext cx="731520" cy="32918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12280" y="149047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635240" y="15270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Q=7.08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2880" y="1956816"/>
            <a:ext cx="411480" cy="438912"/>
          </a:xfrm>
          <a:prstGeom prst="rect">
            <a:avLst/>
          </a:prstGeom>
          <a:solidFill>
            <a:srgbClr val="388E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82880" y="1956816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8368" y="2011680"/>
            <a:ext cx="6035040" cy="329184"/>
          </a:xfrm>
          <a:prstGeom prst="rect">
            <a:avLst/>
          </a:prstGeom>
          <a:solidFill>
            <a:srgbClr val="388E3C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13232" y="203911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CH7 — Empirical Laser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13232" y="22219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BER: 4.84e-12  |  Best Q: 6.807  |  Best Detector: APD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812280" y="2011680"/>
            <a:ext cx="731520" cy="329184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12280" y="201168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635240" y="20482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Q=6.81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2880" y="2478024"/>
            <a:ext cx="411480" cy="438912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82880" y="2478024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58368" y="2532888"/>
            <a:ext cx="6035040" cy="329184"/>
          </a:xfrm>
          <a:prstGeom prst="rect">
            <a:avLst/>
          </a:prstGeom>
          <a:solidFill>
            <a:srgbClr val="43A047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13232" y="256032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CH5 — Ideal Single-Mode Laser (10 dBm)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13232" y="274320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BER: 3.37e-7  |  Best Q: 4.950  |  Best Detector: APD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812280" y="2532888"/>
            <a:ext cx="731520" cy="329184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812280" y="253288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635240" y="25694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Q=4.95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82880" y="2999232"/>
            <a:ext cx="411480" cy="438912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82880" y="2999232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58368" y="3054096"/>
            <a:ext cx="6035040" cy="329184"/>
          </a:xfrm>
          <a:prstGeom prst="rect">
            <a:avLst/>
          </a:prstGeom>
          <a:solidFill>
            <a:srgbClr val="66BB6A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13232" y="30815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CH1 — CW Laser (16 dBm)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13232" y="326440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BER: 8.73e-7  |  Best Q: 4.781  |  Best Detector: PIN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812280" y="3054096"/>
            <a:ext cx="731520" cy="329184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812280" y="305409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635240" y="30906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Q=4.78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82880" y="3520440"/>
            <a:ext cx="411480" cy="438912"/>
          </a:xfrm>
          <a:prstGeom prst="rect">
            <a:avLst/>
          </a:prstGeom>
          <a:solidFill>
            <a:srgbClr val="FFA7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82880" y="3520440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58368" y="3575304"/>
            <a:ext cx="6035040" cy="329184"/>
          </a:xfrm>
          <a:prstGeom prst="rect">
            <a:avLst/>
          </a:prstGeom>
          <a:solidFill>
            <a:srgbClr val="FFA726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13232" y="3602736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CH3 — Directly Modulated Laser (10 dBm)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13232" y="3785616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BER: 3.50e-6  |  Best Q: 4.440  |  Best Detector: APD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812280" y="3575304"/>
            <a:ext cx="731520" cy="329184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812280" y="357530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635240" y="3611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Q=4.44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82880" y="4041648"/>
            <a:ext cx="411480" cy="438912"/>
          </a:xfrm>
          <a:prstGeom prst="rect">
            <a:avLst/>
          </a:prstGeom>
          <a:solidFill>
            <a:srgbClr val="EF6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182880" y="4041648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658368" y="4096512"/>
            <a:ext cx="6035040" cy="329184"/>
          </a:xfrm>
          <a:prstGeom prst="rect">
            <a:avLst/>
          </a:prstGeom>
          <a:solidFill>
            <a:srgbClr val="EF6C00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13232" y="412394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CH6 — Directly Modulated Laser (10 dBm)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713232" y="4306824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BER: 7.41e-6  |  Best Q: 4.296  |  Best Detector: PIN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812280" y="4096512"/>
            <a:ext cx="731520" cy="329184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812280" y="409651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635240" y="41330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Q=4.30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182880" y="4562856"/>
            <a:ext cx="411480" cy="438912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182880" y="4562856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58368" y="4617720"/>
            <a:ext cx="6035040" cy="329184"/>
          </a:xfrm>
          <a:prstGeom prst="rect">
            <a:avLst/>
          </a:prstGeom>
          <a:solidFill>
            <a:srgbClr val="C62828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713232" y="46451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CH4 — CW Laser (10 dBm)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713232" y="482803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BER: 4.32e-4  |  Best Q: 3.326  |  Best Detector: APD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812280" y="4617720"/>
            <a:ext cx="731520" cy="329184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812280" y="461772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635240" y="46542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Q=3.33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Type Impact on System Performance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4251960" cy="20528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4251960" cy="347472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6032" y="9601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 Laser (MZ Modulated)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" y="12984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CH1, CH4, CH8  |  Avg Q (PIN): 5.02  |  Avg Q (APD): 5.06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151790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Advantages: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1700784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power flexibility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0040" y="1901952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 RIN when CW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0040" y="2103120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External MZ modulation — no chirp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74320" y="230428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Limitations: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0040" y="246888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Performance varies widely by power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0040" y="265176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CH4 severely degraded — worst channel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0040" y="283464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Needs careful power management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63440" y="914400"/>
            <a:ext cx="4251960" cy="2057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63440" y="914400"/>
            <a:ext cx="4251960" cy="347472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36592" y="9601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Modulated (DML)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36592" y="12984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CH3, CH6  |  Avg Q (PIN): 4.35  |  Avg Q (APD): 4.35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0" y="151790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Advantages: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00600" y="1700784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Simplest transmitter design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00600" y="1901952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Lower component count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00600" y="2103120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Cost-effective for short reach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0" y="230428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Limitations: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00600" y="246888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Frequency chirp causes dispersion penalty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00600" y="265176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Worst average Q-factor of all types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00600" y="283464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suitable for long-haul WDM applications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82880" y="2971800"/>
            <a:ext cx="425196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82880" y="2971800"/>
            <a:ext cx="4251960" cy="34747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56032" y="30175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Single-Mode (ISM)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6032" y="33558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CH2, CH5  |  Avg Q (PIN): 11.79  |  Avg Q (APD): 10.39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74320" y="357530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Advantages: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20040" y="3758184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performance potential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20040" y="3959352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modal noise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20040" y="4160520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coherence — minimal crosstalk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74320" y="436168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Limitations: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20040" y="452628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Performance depends heavily on power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20040" y="470916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CH2 at 7 dBm extraordinary; CH5 at 10 dBm marginal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20040" y="489204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power induces nonlinear degradation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663440" y="2971800"/>
            <a:ext cx="425196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663440" y="2971800"/>
            <a:ext cx="4251960" cy="347472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36592" y="30175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Laser (CH7)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736592" y="33558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CH7  |  Avg Q (PIN): 6.68  |  Avg Q (APD): 6.81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754880" y="357530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Advantages: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800600" y="3758184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Realistic measurement-based model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800600" y="3959352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Captures real RIN and linewidth effects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800600" y="4160520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Consistent with lab-measured behavior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754880" y="436168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Limitations: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800600" y="452628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accuracy limited by dataset quality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800600" y="470916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Cannot independently vary all parameters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800600" y="489204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 channel — limited statistical basis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74320" y="4905756"/>
            <a:ext cx="8778240" cy="201168"/>
          </a:xfrm>
          <a:prstGeom prst="rect">
            <a:avLst/>
          </a:prstGeom>
          <a:solidFill>
            <a:srgbClr val="ECEF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20040" y="4946904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by average Q-factor:  1st → Ideal Single-Mode (avg Q ≈ 11.8)    2nd → Empirical (Q = 6.8)    3rd → CW Laser (avg Q ≈ 5.0)    4th → DML (avg Q ≈ 4.4)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Power vs BER Relationship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launch power on signal quality — CW Laser channels only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15240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Channel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Power (dBm)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Q-Factor (PIN)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Q-Factor (APD)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BER (PIN)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BER (APD)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Assessment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</a:rPr>
                        <a:t>CH4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10 dBm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3.309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3.326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4.58e-4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4.32e-4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</a:rPr>
                        <a:t>Too low / crosstalk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</a:rPr>
                        <a:t>CH8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11 dBm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6.963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7.085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1.57e-12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6.62e-13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</a:rPr>
                        <a:t>Optimal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</a:rPr>
                        <a:t>CH1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16 dBm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4.781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4.770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8.73e-7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9.18e-7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65100"/>
                          </a:solidFill>
                        </a:rPr>
                        <a:t>Excessive nonlinear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Chart 0"/>
          <p:cNvGraphicFramePr/>
          <p:nvPr/>
        </p:nvGraphicFramePr>
        <p:xfrm>
          <a:off x="274320" y="2606040"/>
          <a:ext cx="50292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3"/>
          <p:cNvSpPr/>
          <p:nvPr/>
        </p:nvSpPr>
        <p:spPr>
          <a:xfrm>
            <a:off x="5486400" y="2606040"/>
            <a:ext cx="3429000" cy="233172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5577840" y="26700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Power–BER Relationship Analysis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577840" y="2999232"/>
            <a:ext cx="32461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CH4 (10 dBm) worst: underperforms despite moderate power — WDM crosstalk dominates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CH8 (11 dBm) optimal: best CW performance — balanced power vs noise trade-off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CH1 (16 dBm) marginal: excessive power triggers fiber nonlinearities (SPM, XPM)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CW power range appears to be ~11 dBm for this fiber configuration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APD maintains advantage across all CW power levels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Diagram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clarity, eye opening, and distortion characterization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914400"/>
          <a:ext cx="8869680" cy="379476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1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Channel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Eye Height (PIN)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Eye Height (APD)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APD Eye Ratio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Eye Quality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Key Observation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CH 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1.053×10⁻³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3.131×10⁻³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2.97×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65100"/>
                          </a:solidFill>
                        </a:rPr>
                        <a:t>Marginal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High noise spread; CW at 16 dBm causes nonlinear distortion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CH 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6.016×10⁻⁴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1.760×10⁻³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2.92×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7D32"/>
                          </a:solidFill>
                        </a:rPr>
                        <a:t>Excellent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Wide-open eye; ideal single-mode laser gives cleanest signal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CH 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2.343×10⁻³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8.390×10⁻³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3.58×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65100"/>
                          </a:solidFill>
                        </a:rPr>
                        <a:t>Marginal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DML chirp causes asymmetric pulse transitions; eye nearly closed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CH 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1.074×10⁻⁴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4.003×10⁻⁴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3.73×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62828"/>
                          </a:solidFill>
                        </a:rPr>
                        <a:t>Poor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Narrowest eye in system; extreme noise and crosstalk overlap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CH 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1.368×10⁻³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4.873×10⁻³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3.56×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65100"/>
                          </a:solidFill>
                        </a:rPr>
                        <a:t>Marginal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Moderate eye; single-mode at 10 dBm shows XPM degradation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CH 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2.591×10⁻³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9.037×10⁻³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3.49×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65100"/>
                          </a:solidFill>
                        </a:rPr>
                        <a:t>Marginal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DML chirp similar to CH3; PIN eye slightly better than APD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CH 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2.182×10⁻³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7.857×10⁻³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3.60×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88E3C"/>
                          </a:solidFill>
                        </a:rPr>
                        <a:t>Good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Clear eye; empirical laser model gives consistent performance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CH 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6.266×10⁻⁴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2.241×10⁻³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3.58×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88E3C"/>
                          </a:solidFill>
                        </a:rPr>
                        <a:t>Good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Well-formed eye; CW at optimal power shows clean transitions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37160" y="4754880"/>
            <a:ext cx="8869680" cy="2743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74320" y="477316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APD eye height is consistently ~3× larger than PIN — direct evidence of avalanche gain amplifying received signal before detection threshold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Detector Selection Guide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choose PIN vs APD for WDM systems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914400"/>
          <a:ext cx="8686800" cy="4041648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0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Recommended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Reasoning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Confidence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High Input Power (≥12 dBm)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288D1"/>
                          </a:solidFill>
                        </a:rPr>
                        <a:t>PIN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237E"/>
                          </a:solidFill>
                        </a:rPr>
                        <a:t>APD excess noise negates gain advantage; PIN has better SNR at high optical flux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Low Input Power (&lt;9 dBm)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APD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237E"/>
                          </a:solidFill>
                        </a:rPr>
                        <a:t>Avalanche multiplication is critical when signal is weak; APD sensitivity decisive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Long-Haul (heavily attenuated)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APD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237E"/>
                          </a:solidFill>
                        </a:rPr>
                        <a:t>Post-fiber signal is weak; APD internal gain avoids amplifier noise accumulation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Short-Reach Systems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288D1"/>
                          </a:solidFill>
                        </a:rPr>
                        <a:t>PIN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237E"/>
                          </a:solidFill>
                        </a:rPr>
                        <a:t>Strong signal available; PIN simplicity and lower cost preferred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65100"/>
                          </a:solidFill>
                        </a:rPr>
                        <a:t>Medium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Directly Modulated Laser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288D1"/>
                          </a:solidFill>
                        </a:rPr>
                        <a:t>PIN (CH6)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237E"/>
                          </a:solidFill>
                        </a:rPr>
                        <a:t>DML chirp + APD bandwidth interaction causes APD to slightly underperform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65100"/>
                          </a:solidFill>
                        </a:rPr>
                        <a:t>Medium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Coherent Single-Mode Laser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APD (mostly)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237E"/>
                          </a:solidFill>
                        </a:rPr>
                        <a:t>APD wins at 10 dBm; PIN wins at 7 dBm — power-dependent crossover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65100"/>
                          </a:solidFill>
                        </a:rPr>
                        <a:t>Medium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9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CW Laser (11 dBm)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APD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237E"/>
                          </a:solidFill>
                        </a:rPr>
                        <a:t>CH8 confirms APD advantage at optimal CW power level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9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Dense WDM with Crosstalk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APD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237E"/>
                          </a:solidFill>
                        </a:rPr>
                        <a:t>Better sensitivity helps recover signal degraded by inter-channel interference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65100"/>
                          </a:solidFill>
                        </a:rPr>
                        <a:t>Medium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82880" y="500176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These recommendations are derived from simulation results. Real-world systems should consider bias stability, temperature coefficient, and cost constraints.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&amp; Attenuation: Why Channels Differ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29768" y="6537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explanations for performance variation across channels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425196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320040" cy="129844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9601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Amplified Spontaneous Emission (ASE)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23444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EDFA (gain 15.1 dB, NF=5 dB) introduces ASE noise proportional to gain. Channels with larger bandwidth occupation accumulate more ASE, directly raising the noise floor and degrading BER.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25196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320040" cy="1298448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47488" y="9601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Inter-Channel Crosstalk (XPM/FWM)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47488" y="123444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8 channels sharing the fiber, cross-phase modulation (XPM) and four-wave mixing (FWM) create interference. CH4 is severely affected — likely near a phase-matching wavelength for FWM products.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2880" y="2331720"/>
            <a:ext cx="425196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82880" y="2331720"/>
            <a:ext cx="320040" cy="1298448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" y="23774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Chirp (DML Channels 3, 6)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265176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modulation creates simultaneous intensity and frequency modulation. The chirp broadens the optical spectrum, which interacts with fiber GVD to create pulse broadening and inter-symbol interference.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63440" y="2331720"/>
            <a:ext cx="425196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63440" y="2331720"/>
            <a:ext cx="320040" cy="1298448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47488" y="23774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Attenuation &amp; Dispersion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47488" y="265176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loops through SMF+DCF accumulate both attenuation (~10 dB) and residual dispersion. DCF compensates chromatic dispersion but adds 4-wave mixing due to high nonlinear coefficient.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82880" y="3749040"/>
            <a:ext cx="425196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82880" y="3749040"/>
            <a:ext cx="320040" cy="129844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6928" y="379476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 Noise &amp; Thermal Noise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406908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shot noise scales with √(signal power). At low received power (CH4), thermal noise from the 50Ω load dominates. APD multiplication gain improves SNR by lifting signal above the noise floor.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3749040"/>
            <a:ext cx="425196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63440" y="3749040"/>
            <a:ext cx="320040" cy="129844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47488" y="379476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RIN and Linewidth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47488" y="406908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 lasers have very low RIN; empirical model captures measured RIN. DMLs have higher RIN during modulation. Single-mode lasers minimize linewidth, reducing phase noise and improving coherence.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Validation &amp; Expected Trends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8298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results against theoretical predictions and telecom standards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914400"/>
          <a:ext cx="8778240" cy="4041648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9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Validation Check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Notes &amp; Evidence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APD outperforms PIN in most channels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✓ Confirmed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46E7A"/>
                          </a:solidFill>
                        </a:rPr>
                        <a:t>APD wins 5/8 channels — consistent with sensitivity theory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Higher Q → lower BER monotonically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✓ Confirmed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46E7A"/>
                          </a:solidFill>
                        </a:rPr>
                        <a:t>All 16 BER/Q pairs follow BER = erfc(Q/√2)/2 relationship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DML channels have higher BER than CW/ISM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✓ Confirmed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46E7A"/>
                          </a:solidFill>
                        </a:rPr>
                        <a:t>CH3 &amp; CH6 worst among comparable-power channels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Ideal Single-Mode best laser type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✓ Confirmed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46E7A"/>
                          </a:solidFill>
                        </a:rPr>
                        <a:t>CH2 achieves record Q=18.65; CH5 also solid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CH4 (CW, 10 dBm) should perform like CH8 (CW, 11 dBm)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65100"/>
                          </a:solidFill>
                        </a:rPr>
                        <a:t>⚠ Anomaly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46E7A"/>
                          </a:solidFill>
                        </a:rPr>
                        <a:t>CH4 Q≈3.3 vs CH8 Q≈7.0 — inter-channel crosstalk/FWM suspected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BER ≤ 10⁻⁹ for all channels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✗ Not Met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46E7A"/>
                          </a:solidFill>
                        </a:rPr>
                        <a:t>Only CH7, CH8 meet this standard; CH1,3,4,5,6 fail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9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APD eye height &gt; PIN eye height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✓ Confirmed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46E7A"/>
                          </a:solidFill>
                        </a:rPr>
                        <a:t>APD consistently ~3× larger eye height across all channels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9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Higher power always improves performance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✓ Correct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46E7A"/>
                          </a:solidFill>
                        </a:rPr>
                        <a:t>CH1 (16 dBm CW) worse than CH8 (11 dBm CW) — nonlinear regime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82880" y="500176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Validation: 6/7 expected trends confirmed. The CH4 anomaly warrants investigation — likely WDM channel-specific crosstalk or FWM product alignment.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4297680" cy="1261872"/>
          </a:xfrm>
          <a:prstGeom prst="rect">
            <a:avLst/>
          </a:prstGeom>
          <a:solidFill>
            <a:srgbClr val="0D2B55"/>
          </a:solidFill>
          <a:ln/>
          <a:effectLst>
            <a:outerShdw blurRad="76200" dist="127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502920" cy="1261872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9326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82880" y="118872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9808" y="9692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Directly Modulated Lasers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126187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CH3 and CH6 consistently underperform. Switch to externally modulated CW lasers (Mach-Zehnder) to eliminate frequency chirp. Expected BER improvement: 1–2 orders of magnitude.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2880" y="2276856"/>
            <a:ext cx="4297680" cy="1261872"/>
          </a:xfrm>
          <a:prstGeom prst="rect">
            <a:avLst/>
          </a:prstGeom>
          <a:solidFill>
            <a:srgbClr val="0D2B55"/>
          </a:solidFill>
          <a:ln/>
          <a:effectLst>
            <a:outerShdw blurRad="76200" dist="127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82880" y="2276856"/>
            <a:ext cx="502920" cy="1261872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82880" y="229514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82880" y="2551176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49808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CH4 Wavelength Assignment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262432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CH4's catastrophic performance (Q=3.3) is disproportionate and likely due to FWM product alignment. Reassign its wavelength away from phase-matching conditions or add optical filtering.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82880" y="3639312"/>
            <a:ext cx="4297680" cy="1261872"/>
          </a:xfrm>
          <a:prstGeom prst="rect">
            <a:avLst/>
          </a:prstGeom>
          <a:solidFill>
            <a:srgbClr val="0D2B55"/>
          </a:solidFill>
          <a:ln/>
          <a:effectLst>
            <a:outerShdw blurRad="76200" dist="127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82880" y="3639312"/>
            <a:ext cx="502920" cy="1261872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82880" y="36576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82880" y="3913632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49808" y="3694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on APD Receivers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49808" y="3986784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APD outperforms PIN in 5/8 channels. For a production system, APD receivers should be the default, with PIN reserved only for high-power short-reach scenarios.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63440" y="914400"/>
            <a:ext cx="4297680" cy="1261872"/>
          </a:xfrm>
          <a:prstGeom prst="rect">
            <a:avLst/>
          </a:prstGeom>
          <a:solidFill>
            <a:srgbClr val="0D2B55"/>
          </a:solidFill>
          <a:ln/>
          <a:effectLst>
            <a:outerShdw blurRad="76200" dist="127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63440" y="914400"/>
            <a:ext cx="502920" cy="1261872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63440" y="9326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663440" y="118872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230368" y="9692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CW Laser Launch Power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230368" y="126187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Simulations show 11 dBm is near-optimal for CW+MZM. Avoid &gt;14 dBm (nonlinear regime) and &lt;9 dBm for 30 km span. Target 10–12 dBm for best BER.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63440" y="2276856"/>
            <a:ext cx="4297680" cy="1261872"/>
          </a:xfrm>
          <a:prstGeom prst="rect">
            <a:avLst/>
          </a:prstGeom>
          <a:solidFill>
            <a:srgbClr val="0D2B55"/>
          </a:solidFill>
          <a:ln/>
          <a:effectLst>
            <a:outerShdw blurRad="76200" dist="127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63440" y="2276856"/>
            <a:ext cx="502920" cy="1261872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663440" y="229514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663440" y="2551176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230368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FEC for Marginal Channels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230368" y="262432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CH1, CH3, CH4, CH5, CH6 fail the 10⁻⁹ BER threshold. Adding 7% FEC overhead would provide ~8 dB coding gain, potentially rescuing CH1, CH5, and partially CH3/CH6.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63440" y="3639312"/>
            <a:ext cx="4297680" cy="1261872"/>
          </a:xfrm>
          <a:prstGeom prst="rect">
            <a:avLst/>
          </a:prstGeom>
          <a:solidFill>
            <a:srgbClr val="0D2B55"/>
          </a:solidFill>
          <a:ln/>
          <a:effectLst>
            <a:outerShdw blurRad="76200" dist="127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663440" y="3639312"/>
            <a:ext cx="502920" cy="1261872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663440" y="36576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663440" y="3913632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230368" y="3694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Dispersion Compensation Accuracy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230368" y="3986784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dispersion after DCF contributes to pulse spreading. Fine-tune DCF parameters for each channel wavelength for improved per-channel performance.</a:t>
            </a:r>
            <a:endParaRPr lang="en-US" sz="8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Parameters Reference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4290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system parameter specifications extracted from OptiSystem layout</a:t>
            </a:r>
            <a:endParaRPr lang="en-US" sz="1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914400"/>
          <a:ext cx="4206240" cy="402336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Transmitter Parameters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Sequence Length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128 bits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Sample Rate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2.5×10¹² Hz (2.5 THz)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Samples per Bit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64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CH1 Laser Type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CW Laser, 193.1 THz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CH2 Laser Type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Ideal Single-Mode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CH3 Laser Type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Directly Modulated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CH4 Laser Type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CW Laser, 190.3 THz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CH5 Laser Type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Ideal Single-Mode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CH6 Laser Type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Directly Modulated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CH7 Laser Type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Empirical Measured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CH8 Laser Type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CW Laser, 90.35 THz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914400"/>
          <a:ext cx="4206240" cy="4023357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4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Fiber &amp; Amplifier Parameters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4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SMF Loss (approx)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10.1 dB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4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DCF Length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~3 km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4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EDFA Gain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15.1 dB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4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EDFA Noise Figure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5 dB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4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WDM Mux/Demux Loss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3 dB each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4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WDM Loop Count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4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Loop Control Injection Loss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3 dB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4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Receiver Parameters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94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PIN Responsivity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0.65 A/W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94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APD Responsivity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0.65 A/W (×M)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94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Dark Current (both)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1 nA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94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237E"/>
                          </a:solidFill>
                        </a:rPr>
                        <a:t>LPF Cutoff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</a:rPr>
                        <a:t>0.75×Bitrate Hz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Q-Factor &amp; BER: Theoretical Background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relationship between measurement metrics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8778240" cy="109728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 = ½ · erfc(Q/√2)   where   Q = (μ₁ − μ₀)/(σ₁ + σ₀)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μ₁, μ₀ = mean signal levels (1-bit, 0-bit)     σ₁, σ₀ = RMS noise at each level</a:t>
            </a:r>
            <a:endParaRPr lang="en-US" sz="1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7223760" cy="276149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61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Q-Factor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dB Margin from Q=6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Telecom Standard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Channels Meeting This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1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3.0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1.35×10⁻³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−5.5 dB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None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1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3.3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4.8×10⁻⁴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−4.7 dB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None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CH4 (worst)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1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4.3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8.5×10⁻⁶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−2.9 dB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None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CH6, CH3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1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4.8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8.0×10⁻⁷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−1.9 dB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ITU-T threshold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CH1, CH5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1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6.0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1.0×10⁻⁹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 dB (threshold)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OC-3/OC-12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Minimum acceptable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61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6.8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5.2×10⁻¹²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1.1 dB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OC-48/OC-192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CH7 (empirical)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61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7.1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6.6×10⁻¹³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1.5 dB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10G LAN PHY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CH8 (best CW)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61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15.8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5.5×10⁻⁵⁷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8.5 dB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Far exceeds all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CH2 APD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61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18.7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4.1×10⁻⁷⁸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9.9 dB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Theoretical limit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</a:rPr>
                        <a:t>CH2 PIN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82880" y="4919472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acceptable Q = 6 corresponds to BER = 10⁻⁹ — the standard threshold for telecom systems without FEC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Results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" y="666809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metrics in one view — complete channel-by-channel breakdown</a:t>
            </a:r>
            <a:endParaRPr lang="en-US" sz="13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" y="914400"/>
          <a:ext cx="6565392" cy="4005072"/>
        </p:xfrm>
        <a:graphic>
          <a:graphicData uri="http://schemas.openxmlformats.org/drawingml/2006/table">
            <a:tbl>
              <a:tblPr/>
              <a:tblGrid>
                <a:gridCol w="347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450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Ch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Laser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Pwr</a:t>
                      </a:r>
                      <a:endParaRPr lang="en-US" sz="850" dirty="0"/>
                    </a:p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(dBm)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850" dirty="0"/>
                    </a:p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PIN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850" dirty="0"/>
                    </a:p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APD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BER PIN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BER APD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Eye H</a:t>
                      </a:r>
                      <a:endParaRPr lang="en-US" sz="850" dirty="0"/>
                    </a:p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PIN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Eye H</a:t>
                      </a:r>
                      <a:endParaRPr lang="en-US" sz="850" dirty="0"/>
                    </a:p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APD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850" dirty="0"/>
                    </a:p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(Best BER)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Pass</a:t>
                      </a:r>
                      <a:endParaRPr lang="en-US" sz="850" dirty="0"/>
                    </a:p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10⁻⁹?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237E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CW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4.78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4.77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8.73e-7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9.18e-7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1.05e-3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3.13e-3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F6C00"/>
                          </a:solidFill>
                        </a:rPr>
                        <a:t>6th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✗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237E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ISM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18.65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15.84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4.06e-78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5.52e-57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6.02e-4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1.76e-3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</a:rPr>
                        <a:t>1st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237E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DML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4.40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4.44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4.12e-6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3.50e-6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2.34e-3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8.39e-3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7th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✗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237E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CW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3.31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3.33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4.58e-4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4.32e-4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1.07e-4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4.00e-4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8th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✗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237E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ISM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4.93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4.95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3.73e-7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3.37e-7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1.37e-3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4.87e-3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</a:rPr>
                        <a:t>5th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✗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237E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DML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4.30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4.27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7.41e-6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8.37e-6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2.59e-3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9.04e-3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7th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✗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237E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Emp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N/A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6.68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6.81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1.13e-11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4.84e-12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2.18e-3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7.86e-3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88E3C"/>
                          </a:solidFill>
                        </a:rPr>
                        <a:t>3rd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237E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CW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6.96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7.08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1.57e-12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6.62e-13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6.27e-4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7E"/>
                          </a:solidFill>
                        </a:rPr>
                        <a:t>2.24e-3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</a:rPr>
                        <a:t>2nd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 = Ideal Single-Mode  |  DML = Directly Modulated  |  Emp = Empirical  |  Pass threshold: BER ≤ 10⁻⁹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4343400" cy="1261872"/>
          </a:xfrm>
          <a:prstGeom prst="rect">
            <a:avLst/>
          </a:prstGeom>
          <a:solidFill>
            <a:srgbClr val="0D2B55"/>
          </a:solidFill>
          <a:ln/>
          <a:effectLst>
            <a:outerShdw blurRad="76200" dist="127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457200" cy="1261872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950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9692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Channel: CH2 (Ideal Single-Mode, 7 dBm)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" y="128016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Q=18.65 and BER=4×10⁻⁷⁸ with PIN detector — demonstrating that coherent single-mode sources with moderate power deliver exceptional WDM performance.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2880" y="2286000"/>
            <a:ext cx="4343400" cy="1261872"/>
          </a:xfrm>
          <a:prstGeom prst="rect">
            <a:avLst/>
          </a:prstGeom>
          <a:solidFill>
            <a:srgbClr val="0D2B55"/>
          </a:solidFill>
          <a:ln/>
          <a:effectLst>
            <a:outerShdw blurRad="76200" dist="127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82880" y="2286000"/>
            <a:ext cx="457200" cy="1261872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2880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3232" y="23408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Channel: CH4 (CW Laser, 10 dBm)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3232" y="265176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Q≈3.3 is far below acceptable thresholds. The disproportionate degradation relative to other CW channels points to spectral crosstalk (FWM) rather than simple power or distance issues.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82880" y="3657600"/>
            <a:ext cx="4343400" cy="1261872"/>
          </a:xfrm>
          <a:prstGeom prst="rect">
            <a:avLst/>
          </a:prstGeom>
          <a:solidFill>
            <a:srgbClr val="0D2B55"/>
          </a:solidFill>
          <a:ln/>
          <a:effectLst>
            <a:outerShdw blurRad="76200" dist="127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82880" y="3657600"/>
            <a:ext cx="457200" cy="1261872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82880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13232" y="37124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APD Superiority in Most Scenarios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" y="402336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APD outperforms PIN in 5 of 8 channels. The consistent ~3× eye height advantage confirms avalanche gain benefit. APD should be the default receiver in this system.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09160" y="914400"/>
            <a:ext cx="4343400" cy="1261872"/>
          </a:xfrm>
          <a:prstGeom prst="rect">
            <a:avLst/>
          </a:prstGeom>
          <a:solidFill>
            <a:srgbClr val="0D2B55"/>
          </a:solidFill>
          <a:ln/>
          <a:effectLst>
            <a:outerShdw blurRad="76200" dist="127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09160" y="914400"/>
            <a:ext cx="457200" cy="1261872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09160" y="950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39512" y="9692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Type Is The Dominant Factor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39512" y="128016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Single-Mode &gt; Empirical &gt; CW (well-powered) &gt; CW (poor wavelength) &gt; Directly Modulated. Replacing DMLs would be the single most impactful system improvement.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09160" y="2286000"/>
            <a:ext cx="4343400" cy="1261872"/>
          </a:xfrm>
          <a:prstGeom prst="rect">
            <a:avLst/>
          </a:prstGeom>
          <a:solidFill>
            <a:srgbClr val="0D2B55"/>
          </a:solidFill>
          <a:ln/>
          <a:effectLst>
            <a:outerShdw blurRad="76200" dist="127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9160" y="2286000"/>
            <a:ext cx="457200" cy="1261872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09160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239512" y="23408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3/8 Channels Meet 10⁻⁹ BER Threshold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39512" y="265176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CH2, CH7, and CH8 pass the standard. Channels 1, 3, 4, 5, 6 fail. System-level FEC implementation would be required for a production deployment.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09160" y="3657600"/>
            <a:ext cx="4343400" cy="1261872"/>
          </a:xfrm>
          <a:prstGeom prst="rect">
            <a:avLst/>
          </a:prstGeom>
          <a:solidFill>
            <a:srgbClr val="0D2B55"/>
          </a:solidFill>
          <a:ln/>
          <a:effectLst>
            <a:outerShdw blurRad="76200" dist="127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09160" y="3657600"/>
            <a:ext cx="457200" cy="1261872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09160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239512" y="37124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Optimization Is Non-Linear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39512" y="402336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power does not always mean better BER. CH1 (16 dBm) underperforms CH8 (11 dBm) due to fiber nonlinearities. Optimal CW launch power: 10–12 dBm for this span.</a:t>
            </a:r>
            <a:endParaRPr lang="en-US" sz="8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2011680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45920"/>
            <a:ext cx="274320" cy="201168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869680" y="1645920"/>
            <a:ext cx="274320" cy="201168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0" y="2743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WDM Optical Communication System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8-Channel Performance Analysis using OptiSystem Simulation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&amp; APD Detectors  •  BER &amp; Q-Factor Analysis  •  Eye Diagram Evaluation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3931920"/>
            <a:ext cx="1737360" cy="77724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39593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CH2 · Q=18.65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43251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Channel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97480" y="3931920"/>
            <a:ext cx="1737360" cy="77724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97480" y="39593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CH4 · Q=3.31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97480" y="43251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Channel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09160" y="3931920"/>
            <a:ext cx="1737360" cy="77724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9160" y="39593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APD (5/8 wins)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43251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Detector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720840" y="3931920"/>
            <a:ext cx="1737360" cy="77724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20840" y="39593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Single-Mode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20840" y="43251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Laser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5078</Words>
  <Application>Microsoft Office PowerPoint</Application>
  <PresentationFormat>On-screen Show (16:9)</PresentationFormat>
  <Paragraphs>1255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WDM Optical Communication System Analysis</dc:title>
  <dc:subject>PptxGenJS Presentation</dc:subject>
  <dc:creator>Optical Communications Lab</dc:creator>
  <cp:lastModifiedBy>Kareem Nabil</cp:lastModifiedBy>
  <cp:revision>6</cp:revision>
  <dcterms:created xsi:type="dcterms:W3CDTF">2026-05-06T02:46:41Z</dcterms:created>
  <dcterms:modified xsi:type="dcterms:W3CDTF">2026-05-06T09:38:37Z</dcterms:modified>
</cp:coreProperties>
</file>